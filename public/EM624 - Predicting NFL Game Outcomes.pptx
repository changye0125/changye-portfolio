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Open Sauce Bold" charset="1" panose="00000800000000000000"/>
      <p:regular r:id="rId23"/>
    </p:embeddedFont>
    <p:embeddedFont>
      <p:font typeface="Anton Italics" charset="1" panose="00000500000000000000"/>
      <p:regular r:id="rId24"/>
    </p:embeddedFont>
    <p:embeddedFont>
      <p:font typeface="Open Sauce" charset="1" panose="00000500000000000000"/>
      <p:regular r:id="rId25"/>
    </p:embeddedFont>
    <p:embeddedFont>
      <p:font typeface="Glacial Indifference" charset="1" panose="00000000000000000000"/>
      <p:regular r:id="rId26"/>
    </p:embeddedFont>
    <p:embeddedFont>
      <p:font typeface="Glacial Indifference Bold" charset="1" panose="00000800000000000000"/>
      <p:regular r:id="rId27"/>
    </p:embeddedFont>
    <p:embeddedFont>
      <p:font typeface="Glacial Indifference Italics" charset="1" panose="00000000000000000000"/>
      <p:regular r:id="rId28"/>
    </p:embeddedFont>
    <p:embeddedFont>
      <p:font typeface="Open Sauce Bold Italics" charset="1" panose="00000800000000000000"/>
      <p:regular r:id="rId29"/>
    </p:embeddedFont>
    <p:embeddedFont>
      <p:font typeface="Open Sauce Italic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https://www.kaggle.com/datasets/maxhorowitz/nflplaybyplay2009to2016/code" TargetMode="External" Type="http://schemas.openxmlformats.org/officeDocument/2006/relationships/hyperlink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3945890"/>
            <a:ext cx="12707920" cy="731321"/>
            <a:chOff x="0" y="0"/>
            <a:chExt cx="3346942" cy="1926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6942" cy="192611"/>
            </a:xfrm>
            <a:custGeom>
              <a:avLst/>
              <a:gdLst/>
              <a:ahLst/>
              <a:cxnLst/>
              <a:rect r="r" b="b" t="t" l="l"/>
              <a:pathLst>
                <a:path h="192611" w="3346942">
                  <a:moveTo>
                    <a:pt x="0" y="0"/>
                  </a:moveTo>
                  <a:lnTo>
                    <a:pt x="3346942" y="0"/>
                  </a:lnTo>
                  <a:lnTo>
                    <a:pt x="3346942" y="192611"/>
                  </a:lnTo>
                  <a:lnTo>
                    <a:pt x="0" y="192611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346942" cy="183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83602"/>
            <a:ext cx="11072820" cy="834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64"/>
              </a:lnSpc>
            </a:pPr>
            <a:r>
              <a:rPr lang="en-US" sz="11682" spc="-23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PREDICTING</a:t>
            </a:r>
            <a:r>
              <a:rPr lang="en-US" sz="11682" spc="-233">
                <a:solidFill>
                  <a:srgbClr val="4230C1"/>
                </a:solidFill>
                <a:latin typeface="Anton"/>
                <a:ea typeface="Anton"/>
                <a:cs typeface="Anton"/>
                <a:sym typeface="Anton"/>
              </a:rPr>
              <a:t> NFL GAME OUTCOMES </a:t>
            </a:r>
            <a:r>
              <a:rPr lang="en-US" sz="11682" spc="-23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USING</a:t>
            </a:r>
            <a:r>
              <a:rPr lang="en-US" sz="11682" spc="-233">
                <a:solidFill>
                  <a:srgbClr val="4230C1"/>
                </a:solidFill>
                <a:latin typeface="Anton"/>
                <a:ea typeface="Anton"/>
                <a:cs typeface="Anton"/>
                <a:sym typeface="Anton"/>
              </a:rPr>
              <a:t> MACHINE LEARNING</a:t>
            </a:r>
          </a:p>
          <a:p>
            <a:pPr algn="l">
              <a:lnSpc>
                <a:spcPts val="10864"/>
              </a:lnSpc>
            </a:pPr>
          </a:p>
          <a:p>
            <a:pPr algn="l">
              <a:lnSpc>
                <a:spcPts val="1086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5096" y="7561479"/>
            <a:ext cx="3824073" cy="2725521"/>
          </a:xfrm>
          <a:custGeom>
            <a:avLst/>
            <a:gdLst/>
            <a:ahLst/>
            <a:cxnLst/>
            <a:rect r="r" b="b" t="t" l="l"/>
            <a:pathLst>
              <a:path h="2725521" w="3824073">
                <a:moveTo>
                  <a:pt x="0" y="0"/>
                </a:moveTo>
                <a:lnTo>
                  <a:pt x="3824073" y="0"/>
                </a:lnTo>
                <a:lnTo>
                  <a:pt x="3824073" y="2725521"/>
                </a:lnTo>
                <a:lnTo>
                  <a:pt x="0" y="272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675815" y="9698567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996599" y="2738857"/>
            <a:ext cx="5764706" cy="731321"/>
            <a:chOff x="0" y="0"/>
            <a:chExt cx="1518276" cy="1926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8276" cy="192611"/>
            </a:xfrm>
            <a:custGeom>
              <a:avLst/>
              <a:gdLst/>
              <a:ahLst/>
              <a:cxnLst/>
              <a:rect r="r" b="b" t="t" l="l"/>
              <a:pathLst>
                <a:path h="192611" w="1518276">
                  <a:moveTo>
                    <a:pt x="0" y="0"/>
                  </a:moveTo>
                  <a:lnTo>
                    <a:pt x="1518276" y="0"/>
                  </a:lnTo>
                  <a:lnTo>
                    <a:pt x="1518276" y="192611"/>
                  </a:lnTo>
                  <a:lnTo>
                    <a:pt x="0" y="192611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518276" cy="183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626938" y="553560"/>
            <a:ext cx="3455151" cy="3392330"/>
          </a:xfrm>
          <a:custGeom>
            <a:avLst/>
            <a:gdLst/>
            <a:ahLst/>
            <a:cxnLst/>
            <a:rect r="r" b="b" t="t" l="l"/>
            <a:pathLst>
              <a:path h="3392330" w="3455151">
                <a:moveTo>
                  <a:pt x="0" y="0"/>
                </a:moveTo>
                <a:lnTo>
                  <a:pt x="3455151" y="0"/>
                </a:lnTo>
                <a:lnTo>
                  <a:pt x="3455151" y="3392330"/>
                </a:lnTo>
                <a:lnTo>
                  <a:pt x="0" y="339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36949" y="4671718"/>
            <a:ext cx="4877697" cy="4842223"/>
          </a:xfrm>
          <a:custGeom>
            <a:avLst/>
            <a:gdLst/>
            <a:ahLst/>
            <a:cxnLst/>
            <a:rect r="r" b="b" t="t" l="l"/>
            <a:pathLst>
              <a:path h="4842223" w="4877697">
                <a:moveTo>
                  <a:pt x="0" y="0"/>
                </a:moveTo>
                <a:lnTo>
                  <a:pt x="4877697" y="0"/>
                </a:lnTo>
                <a:lnTo>
                  <a:pt x="4877697" y="4842223"/>
                </a:lnTo>
                <a:lnTo>
                  <a:pt x="0" y="4842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3730026" y="2667031"/>
            <a:ext cx="874974" cy="87497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024205" y="5667811"/>
            <a:ext cx="503815" cy="50381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252396" y="4877620"/>
            <a:ext cx="3626688" cy="208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328" spc="-6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MEMBERs：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Anthony Rizzuto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Changye Chen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Daniel Caracitas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Yuxi Huang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Zhangrui Luo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52396" y="7083609"/>
            <a:ext cx="8374542" cy="243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704F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 642-A Data Exploration and Informatics for Engineering Management in Fall 2025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704F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Instructor: Assistant Professor Sang Won Bae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704F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Date：2025.11.30</a:t>
            </a:r>
          </a:p>
          <a:p>
            <a:pPr algn="l" marL="502752" indent="-251376" lvl="1">
              <a:lnSpc>
                <a:spcPts val="2794"/>
              </a:lnSpc>
              <a:buFont typeface="Arial"/>
              <a:buChar char="•"/>
            </a:pPr>
            <a:r>
              <a:rPr lang="en-US" b="true" sz="2328" spc="-69">
                <a:solidFill>
                  <a:srgbClr val="704F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 pledge our honor that we have abided by the Stevens Honor System</a:t>
            </a:r>
          </a:p>
          <a:p>
            <a:pPr algn="l">
              <a:lnSpc>
                <a:spcPts val="279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6637" y="1683591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5" y="0"/>
                </a:lnTo>
                <a:lnTo>
                  <a:pt x="406275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3784" y="2340254"/>
            <a:ext cx="6359108" cy="7211359"/>
          </a:xfrm>
          <a:custGeom>
            <a:avLst/>
            <a:gdLst/>
            <a:ahLst/>
            <a:cxnLst/>
            <a:rect r="r" b="b" t="t" l="l"/>
            <a:pathLst>
              <a:path h="7211359" w="6359108">
                <a:moveTo>
                  <a:pt x="0" y="0"/>
                </a:moveTo>
                <a:lnTo>
                  <a:pt x="6359108" y="0"/>
                </a:lnTo>
                <a:lnTo>
                  <a:pt x="6359108" y="7211359"/>
                </a:lnTo>
                <a:lnTo>
                  <a:pt x="0" y="7211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776174" y="441440"/>
            <a:ext cx="4618224" cy="9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4"/>
              </a:lnSpc>
            </a:pPr>
            <a:r>
              <a:rPr lang="en-US" sz="7155" i="true" spc="-143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MOTIVATIONS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209" y="450965"/>
            <a:ext cx="8882320" cy="265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7354" i="true" spc="-147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BACKGROUND &amp;</a:t>
            </a:r>
          </a:p>
          <a:p>
            <a:pPr algn="l">
              <a:lnSpc>
                <a:spcPts val="6839"/>
              </a:lnSpc>
            </a:pPr>
          </a:p>
          <a:p>
            <a:pPr algn="l">
              <a:lnSpc>
                <a:spcPts val="68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132397"/>
            <a:ext cx="4830285" cy="2272012"/>
            <a:chOff x="0" y="0"/>
            <a:chExt cx="3499697" cy="16461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99696" cy="1646146"/>
            </a:xfrm>
            <a:custGeom>
              <a:avLst/>
              <a:gdLst/>
              <a:ahLst/>
              <a:cxnLst/>
              <a:rect r="r" b="b" t="t" l="l"/>
              <a:pathLst>
                <a:path h="1646146" w="3499696">
                  <a:moveTo>
                    <a:pt x="3499696" y="0"/>
                  </a:moveTo>
                  <a:lnTo>
                    <a:pt x="0" y="0"/>
                  </a:lnTo>
                  <a:lnTo>
                    <a:pt x="0" y="1458186"/>
                  </a:lnTo>
                  <a:lnTo>
                    <a:pt x="157480" y="1458186"/>
                  </a:lnTo>
                  <a:lnTo>
                    <a:pt x="157480" y="1646146"/>
                  </a:lnTo>
                  <a:lnTo>
                    <a:pt x="463550" y="1458186"/>
                  </a:lnTo>
                  <a:lnTo>
                    <a:pt x="3499696" y="1458186"/>
                  </a:lnTo>
                  <a:lnTo>
                    <a:pt x="3499696" y="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499697" cy="1446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2908" y="4653331"/>
            <a:ext cx="5629466" cy="2247475"/>
            <a:chOff x="0" y="0"/>
            <a:chExt cx="4078729" cy="1628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78729" cy="1628368"/>
            </a:xfrm>
            <a:custGeom>
              <a:avLst/>
              <a:gdLst/>
              <a:ahLst/>
              <a:cxnLst/>
              <a:rect r="r" b="b" t="t" l="l"/>
              <a:pathLst>
                <a:path h="1628368" w="4078729">
                  <a:moveTo>
                    <a:pt x="4078729" y="0"/>
                  </a:moveTo>
                  <a:lnTo>
                    <a:pt x="0" y="0"/>
                  </a:lnTo>
                  <a:lnTo>
                    <a:pt x="0" y="1440408"/>
                  </a:lnTo>
                  <a:lnTo>
                    <a:pt x="157480" y="1440408"/>
                  </a:lnTo>
                  <a:lnTo>
                    <a:pt x="157480" y="1628368"/>
                  </a:lnTo>
                  <a:lnTo>
                    <a:pt x="463550" y="1440408"/>
                  </a:lnTo>
                  <a:lnTo>
                    <a:pt x="4078729" y="1440408"/>
                  </a:lnTo>
                  <a:lnTo>
                    <a:pt x="4078729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078729" cy="142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73565" y="7086929"/>
            <a:ext cx="4697964" cy="2276704"/>
            <a:chOff x="0" y="0"/>
            <a:chExt cx="3403826" cy="16495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03826" cy="1649545"/>
            </a:xfrm>
            <a:custGeom>
              <a:avLst/>
              <a:gdLst/>
              <a:ahLst/>
              <a:cxnLst/>
              <a:rect r="r" b="b" t="t" l="l"/>
              <a:pathLst>
                <a:path h="1649545" w="3403826">
                  <a:moveTo>
                    <a:pt x="3403826" y="0"/>
                  </a:moveTo>
                  <a:lnTo>
                    <a:pt x="0" y="0"/>
                  </a:lnTo>
                  <a:lnTo>
                    <a:pt x="0" y="1461585"/>
                  </a:lnTo>
                  <a:lnTo>
                    <a:pt x="157480" y="1461585"/>
                  </a:lnTo>
                  <a:lnTo>
                    <a:pt x="157480" y="1649545"/>
                  </a:lnTo>
                  <a:lnTo>
                    <a:pt x="463550" y="1461585"/>
                  </a:lnTo>
                  <a:lnTo>
                    <a:pt x="3403826" y="1461585"/>
                  </a:lnTo>
                  <a:lnTo>
                    <a:pt x="3403826" y="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403826" cy="1449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151820" y="1028700"/>
            <a:ext cx="510024" cy="5100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391798" y="6589084"/>
            <a:ext cx="410161" cy="402595"/>
          </a:xfrm>
          <a:custGeom>
            <a:avLst/>
            <a:gdLst/>
            <a:ahLst/>
            <a:cxnLst/>
            <a:rect r="r" b="b" t="t" l="l"/>
            <a:pathLst>
              <a:path h="402595" w="410161">
                <a:moveTo>
                  <a:pt x="0" y="0"/>
                </a:moveTo>
                <a:lnTo>
                  <a:pt x="410161" y="0"/>
                </a:lnTo>
                <a:lnTo>
                  <a:pt x="410161" y="402595"/>
                </a:lnTo>
                <a:lnTo>
                  <a:pt x="0" y="40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158415" y="2132397"/>
            <a:ext cx="2946904" cy="1948640"/>
          </a:xfrm>
          <a:custGeom>
            <a:avLst/>
            <a:gdLst/>
            <a:ahLst/>
            <a:cxnLst/>
            <a:rect r="r" b="b" t="t" l="l"/>
            <a:pathLst>
              <a:path h="1948640" w="2946904">
                <a:moveTo>
                  <a:pt x="0" y="0"/>
                </a:moveTo>
                <a:lnTo>
                  <a:pt x="2946904" y="0"/>
                </a:lnTo>
                <a:lnTo>
                  <a:pt x="2946904" y="1948640"/>
                </a:lnTo>
                <a:lnTo>
                  <a:pt x="0" y="194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85285" y="4613116"/>
            <a:ext cx="3200396" cy="1883959"/>
          </a:xfrm>
          <a:custGeom>
            <a:avLst/>
            <a:gdLst/>
            <a:ahLst/>
            <a:cxnLst/>
            <a:rect r="r" b="b" t="t" l="l"/>
            <a:pathLst>
              <a:path h="1883959" w="3200396">
                <a:moveTo>
                  <a:pt x="0" y="0"/>
                </a:moveTo>
                <a:lnTo>
                  <a:pt x="3200396" y="0"/>
                </a:lnTo>
                <a:lnTo>
                  <a:pt x="3200396" y="1883960"/>
                </a:lnTo>
                <a:lnTo>
                  <a:pt x="0" y="1883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73" t="0" r="-5273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59831" y="2152669"/>
            <a:ext cx="4230428" cy="314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898" spc="-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NFL is one of the most</a:t>
            </a:r>
          </a:p>
          <a:p>
            <a:pPr algn="ctr">
              <a:lnSpc>
                <a:spcPts val="2088"/>
              </a:lnSpc>
            </a:pPr>
            <a:r>
              <a:rPr lang="en-US" sz="1898" spc="-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popular sports in the U.S. today，the NFL is a multi dollar league.</a:t>
            </a:r>
          </a:p>
          <a:p>
            <a:pPr algn="ctr">
              <a:lnSpc>
                <a:spcPts val="2088"/>
              </a:lnSpc>
            </a:pPr>
            <a:r>
              <a:rPr lang="en-US" b="true" sz="1898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generates over $18 billion in annual revenue</a:t>
            </a:r>
            <a:r>
              <a:rPr lang="en-US" sz="1898" spc="-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and each </a:t>
            </a:r>
            <a:r>
              <a:rPr lang="en-US" b="true" sz="1898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operates</a:t>
            </a:r>
            <a:r>
              <a:rPr lang="en-US" sz="1898" spc="-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under a </a:t>
            </a:r>
            <a:r>
              <a:rPr lang="en-US" b="true" sz="1898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salary cap of $255 </a:t>
            </a:r>
          </a:p>
          <a:p>
            <a:pPr algn="ctr">
              <a:lnSpc>
                <a:spcPts val="2088"/>
              </a:lnSpc>
            </a:pPr>
            <a:r>
              <a:rPr lang="en-US" b="true" sz="1898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million  </a:t>
            </a:r>
          </a:p>
          <a:p>
            <a:pPr algn="ctr">
              <a:lnSpc>
                <a:spcPts val="2088"/>
              </a:lnSpc>
            </a:pPr>
          </a:p>
          <a:p>
            <a:pPr algn="ctr">
              <a:lnSpc>
                <a:spcPts val="2088"/>
              </a:lnSpc>
            </a:pPr>
          </a:p>
          <a:p>
            <a:pPr algn="ctr">
              <a:lnSpc>
                <a:spcPts val="2088"/>
              </a:lnSpc>
            </a:pPr>
          </a:p>
          <a:p>
            <a:pPr algn="ctr">
              <a:lnSpc>
                <a:spcPts val="2088"/>
              </a:lnSpc>
            </a:pPr>
          </a:p>
          <a:p>
            <a:pPr algn="ctr">
              <a:lnSpc>
                <a:spcPts val="208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59831" y="4727109"/>
            <a:ext cx="5301294" cy="251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3"/>
              </a:lnSpc>
            </a:pPr>
            <a:r>
              <a:rPr lang="en-US" sz="2012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According to </a:t>
            </a:r>
            <a:r>
              <a:rPr lang="en-US" b="true" sz="2012" spc="-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league’s official play-by-play archives, </a:t>
            </a:r>
            <a:r>
              <a:rPr lang="en-US" sz="2012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2009 to 2018,</a:t>
            </a:r>
            <a:r>
              <a:rPr lang="en-US" sz="2012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012" spc="-6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league recorded more than 350k structured play-by-play events </a:t>
            </a:r>
          </a:p>
          <a:p>
            <a:pPr algn="ctr">
              <a:lnSpc>
                <a:spcPts val="2213"/>
              </a:lnSpc>
            </a:pPr>
            <a:r>
              <a:rPr lang="en-US" sz="2012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giving machine-learning models the resolution needed to quantify competitive value before kickoff.</a:t>
            </a:r>
          </a:p>
          <a:p>
            <a:pPr algn="ctr">
              <a:lnSpc>
                <a:spcPts val="2323"/>
              </a:lnSpc>
            </a:pPr>
          </a:p>
          <a:p>
            <a:pPr algn="ctr">
              <a:lnSpc>
                <a:spcPts val="232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812421" y="7258379"/>
            <a:ext cx="4331579" cy="257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069" spc="-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Rich</a:t>
            </a:r>
            <a:r>
              <a:rPr lang="en-US" b="true" sz="2069" spc="-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069" spc="-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play-by-play datasets </a:t>
            </a:r>
          </a:p>
          <a:p>
            <a:pPr algn="ctr">
              <a:lnSpc>
                <a:spcPts val="2276"/>
              </a:lnSpc>
            </a:pPr>
            <a:r>
              <a:rPr lang="en-US" b="true" sz="2069" spc="-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create the perfect setup for</a:t>
            </a:r>
            <a:r>
              <a:rPr lang="en-US" sz="2069" spc="-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machine learning:a high-stakes sport,  measurable business impact,</a:t>
            </a:r>
          </a:p>
          <a:p>
            <a:pPr algn="ctr">
              <a:lnSpc>
                <a:spcPts val="2276"/>
              </a:lnSpc>
            </a:pPr>
            <a:r>
              <a:rPr lang="en-US" sz="2069" spc="-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069" spc="-6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decade of detailed game data</a:t>
            </a:r>
            <a:r>
              <a:rPr lang="en-US" sz="2069" spc="-6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ready for feature engineering</a:t>
            </a:r>
          </a:p>
          <a:p>
            <a:pPr algn="ctr">
              <a:lnSpc>
                <a:spcPts val="2276"/>
              </a:lnSpc>
            </a:pPr>
          </a:p>
          <a:p>
            <a:pPr algn="ctr">
              <a:lnSpc>
                <a:spcPts val="2276"/>
              </a:lnSpc>
            </a:pPr>
          </a:p>
          <a:p>
            <a:pPr algn="ctr">
              <a:lnSpc>
                <a:spcPts val="2276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402260" y="4203111"/>
            <a:ext cx="410161" cy="402595"/>
          </a:xfrm>
          <a:custGeom>
            <a:avLst/>
            <a:gdLst/>
            <a:ahLst/>
            <a:cxnLst/>
            <a:rect r="r" b="b" t="t" l="l"/>
            <a:pathLst>
              <a:path h="402595" w="410161">
                <a:moveTo>
                  <a:pt x="0" y="0"/>
                </a:moveTo>
                <a:lnTo>
                  <a:pt x="410161" y="0"/>
                </a:lnTo>
                <a:lnTo>
                  <a:pt x="410161" y="402595"/>
                </a:lnTo>
                <a:lnTo>
                  <a:pt x="0" y="40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5561" y="549722"/>
            <a:ext cx="8252517" cy="395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4"/>
              </a:lnSpc>
            </a:pPr>
            <a:r>
              <a:rPr lang="en-US" sz="8252" i="true" spc="-165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BUSINESS UNDERSTANDING</a:t>
            </a:r>
          </a:p>
          <a:p>
            <a:pPr algn="l">
              <a:lnSpc>
                <a:spcPts val="7674"/>
              </a:lnSpc>
            </a:pPr>
          </a:p>
          <a:p>
            <a:pPr algn="l">
              <a:lnSpc>
                <a:spcPts val="7674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607429" y="5038946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5" y="0"/>
                </a:lnTo>
                <a:lnTo>
                  <a:pt x="406275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3840" y="4399773"/>
            <a:ext cx="5270356" cy="2387747"/>
            <a:chOff x="0" y="0"/>
            <a:chExt cx="2513721" cy="11388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13721" cy="1138847"/>
            </a:xfrm>
            <a:custGeom>
              <a:avLst/>
              <a:gdLst/>
              <a:ahLst/>
              <a:cxnLst/>
              <a:rect r="r" b="b" t="t" l="l"/>
              <a:pathLst>
                <a:path h="1138847" w="2513721">
                  <a:moveTo>
                    <a:pt x="2513721" y="0"/>
                  </a:moveTo>
                  <a:lnTo>
                    <a:pt x="0" y="0"/>
                  </a:lnTo>
                  <a:lnTo>
                    <a:pt x="0" y="950887"/>
                  </a:lnTo>
                  <a:lnTo>
                    <a:pt x="157480" y="950887"/>
                  </a:lnTo>
                  <a:lnTo>
                    <a:pt x="157480" y="1138847"/>
                  </a:lnTo>
                  <a:lnTo>
                    <a:pt x="463550" y="950887"/>
                  </a:lnTo>
                  <a:lnTo>
                    <a:pt x="2513721" y="950887"/>
                  </a:lnTo>
                  <a:lnTo>
                    <a:pt x="2513721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513721" cy="938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57019" y="317826"/>
            <a:ext cx="7573085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1"/>
              </a:lnSpc>
            </a:pPr>
            <a:r>
              <a:rPr lang="en-US" sz="6399" i="true" spc="-127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#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9856" y="2109993"/>
            <a:ext cx="4293770" cy="14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</a:p>
          <a:p>
            <a:pPr algn="l" marL="447291" indent="-223646" lvl="1">
              <a:lnSpc>
                <a:spcPts val="2278"/>
              </a:lnSpc>
              <a:buFont typeface="Arial"/>
              <a:buChar char="•"/>
            </a:pP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</a:t>
            </a: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lop a predictive model to fore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535572" y="5444403"/>
            <a:ext cx="6318822" cy="466847"/>
            <a:chOff x="0" y="0"/>
            <a:chExt cx="1664217" cy="122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4216" cy="122956"/>
            </a:xfrm>
            <a:custGeom>
              <a:avLst/>
              <a:gdLst/>
              <a:ahLst/>
              <a:cxnLst/>
              <a:rect r="r" b="b" t="t" l="l"/>
              <a:pathLst>
                <a:path h="122956" w="1664216">
                  <a:moveTo>
                    <a:pt x="0" y="0"/>
                  </a:moveTo>
                  <a:lnTo>
                    <a:pt x="1664216" y="0"/>
                  </a:lnTo>
                  <a:lnTo>
                    <a:pt x="1664216" y="122956"/>
                  </a:lnTo>
                  <a:lnTo>
                    <a:pt x="0" y="122956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664217" cy="113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39359" y="5593646"/>
            <a:ext cx="4759488" cy="2567263"/>
            <a:chOff x="0" y="0"/>
            <a:chExt cx="3917579" cy="21131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7579" cy="2113138"/>
            </a:xfrm>
            <a:custGeom>
              <a:avLst/>
              <a:gdLst/>
              <a:ahLst/>
              <a:cxnLst/>
              <a:rect r="r" b="b" t="t" l="l"/>
              <a:pathLst>
                <a:path h="2113138" w="3917579">
                  <a:moveTo>
                    <a:pt x="3917579" y="0"/>
                  </a:moveTo>
                  <a:lnTo>
                    <a:pt x="0" y="0"/>
                  </a:lnTo>
                  <a:lnTo>
                    <a:pt x="0" y="1925178"/>
                  </a:lnTo>
                  <a:lnTo>
                    <a:pt x="157480" y="1925178"/>
                  </a:lnTo>
                  <a:lnTo>
                    <a:pt x="157480" y="2113138"/>
                  </a:lnTo>
                  <a:lnTo>
                    <a:pt x="463550" y="1925178"/>
                  </a:lnTo>
                  <a:lnTo>
                    <a:pt x="3917579" y="1925178"/>
                  </a:lnTo>
                  <a:lnTo>
                    <a:pt x="3917579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917579" cy="191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79106" y="3429383"/>
            <a:ext cx="6343514" cy="51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</a:p>
          <a:p>
            <a:pPr algn="ctr">
              <a:lnSpc>
                <a:spcPts val="2042"/>
              </a:lnSpc>
            </a:pP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</a:t>
            </a: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 decision-making for stakeholders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3294" y="3339826"/>
            <a:ext cx="3975422" cy="60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sz="201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01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akeholders</a:t>
            </a:r>
          </a:p>
          <a:p>
            <a:pPr algn="ctr">
              <a:lnSpc>
                <a:spcPts val="2423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070255" y="4342445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839359" y="4804476"/>
            <a:ext cx="4605321" cy="433860"/>
            <a:chOff x="0" y="0"/>
            <a:chExt cx="1212924" cy="1142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2924" cy="114268"/>
            </a:xfrm>
            <a:custGeom>
              <a:avLst/>
              <a:gdLst/>
              <a:ahLst/>
              <a:cxnLst/>
              <a:rect r="r" b="b" t="t" l="l"/>
              <a:pathLst>
                <a:path h="114268" w="1212924">
                  <a:moveTo>
                    <a:pt x="0" y="0"/>
                  </a:moveTo>
                  <a:lnTo>
                    <a:pt x="1212924" y="0"/>
                  </a:lnTo>
                  <a:lnTo>
                    <a:pt x="1212924" y="114268"/>
                  </a:lnTo>
                  <a:lnTo>
                    <a:pt x="0" y="114268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212924" cy="104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3294" y="3547525"/>
            <a:ext cx="4744800" cy="480168"/>
            <a:chOff x="0" y="0"/>
            <a:chExt cx="1249659" cy="1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9659" cy="126464"/>
            </a:xfrm>
            <a:custGeom>
              <a:avLst/>
              <a:gdLst/>
              <a:ahLst/>
              <a:cxnLst/>
              <a:rect r="r" b="b" t="t" l="l"/>
              <a:pathLst>
                <a:path h="126464" w="1249659">
                  <a:moveTo>
                    <a:pt x="0" y="0"/>
                  </a:moveTo>
                  <a:lnTo>
                    <a:pt x="1249659" y="0"/>
                  </a:lnTo>
                  <a:lnTo>
                    <a:pt x="1249659" y="126464"/>
                  </a:lnTo>
                  <a:lnTo>
                    <a:pt x="0" y="126464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249659" cy="116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4332180" y="249812"/>
            <a:ext cx="3955820" cy="3883896"/>
          </a:xfrm>
          <a:custGeom>
            <a:avLst/>
            <a:gdLst/>
            <a:ahLst/>
            <a:cxnLst/>
            <a:rect r="r" b="b" t="t" l="l"/>
            <a:pathLst>
              <a:path h="3883896" w="3955820">
                <a:moveTo>
                  <a:pt x="0" y="0"/>
                </a:moveTo>
                <a:lnTo>
                  <a:pt x="3955820" y="0"/>
                </a:lnTo>
                <a:lnTo>
                  <a:pt x="3955820" y="3883896"/>
                </a:lnTo>
                <a:lnTo>
                  <a:pt x="0" y="38838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72424" y="3057331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747193" y="6264668"/>
            <a:ext cx="5540807" cy="3012682"/>
            <a:chOff x="0" y="0"/>
            <a:chExt cx="4225242" cy="22973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25242" cy="2297375"/>
            </a:xfrm>
            <a:custGeom>
              <a:avLst/>
              <a:gdLst/>
              <a:ahLst/>
              <a:cxnLst/>
              <a:rect r="r" b="b" t="t" l="l"/>
              <a:pathLst>
                <a:path h="2297375" w="4225242">
                  <a:moveTo>
                    <a:pt x="4225242" y="0"/>
                  </a:moveTo>
                  <a:lnTo>
                    <a:pt x="0" y="0"/>
                  </a:lnTo>
                  <a:lnTo>
                    <a:pt x="0" y="2109415"/>
                  </a:lnTo>
                  <a:lnTo>
                    <a:pt x="157480" y="2109415"/>
                  </a:lnTo>
                  <a:lnTo>
                    <a:pt x="157480" y="2297375"/>
                  </a:lnTo>
                  <a:lnTo>
                    <a:pt x="463550" y="2109415"/>
                  </a:lnTo>
                  <a:lnTo>
                    <a:pt x="4225242" y="2109415"/>
                  </a:lnTo>
                  <a:lnTo>
                    <a:pt x="4225242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4225242" cy="209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50134" y="2182357"/>
            <a:ext cx="874974" cy="87497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4606" y="3661192"/>
            <a:ext cx="6362174" cy="51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takeholders</a:t>
            </a:r>
          </a:p>
          <a:p>
            <a:pPr algn="ctr">
              <a:lnSpc>
                <a:spcPts val="204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6011213" y="4918840"/>
            <a:ext cx="6524359" cy="51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</a:t>
            </a: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ess Question</a:t>
            </a:r>
          </a:p>
          <a:p>
            <a:pPr algn="ctr">
              <a:lnSpc>
                <a:spcPts val="204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183626" y="5541135"/>
            <a:ext cx="6524359" cy="51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it</a:t>
            </a: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matters</a:t>
            </a:r>
          </a:p>
          <a:p>
            <a:pPr algn="ctr">
              <a:lnSpc>
                <a:spcPts val="204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58950" y="4418823"/>
            <a:ext cx="5553487" cy="266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</a:p>
          <a:p>
            <a:pPr algn="l" marL="416253" indent="-208127" lvl="1">
              <a:lnSpc>
                <a:spcPts val="2120"/>
              </a:lnSpc>
              <a:buFont typeface="Arial"/>
              <a:buChar char="•"/>
            </a:pPr>
            <a:r>
              <a:rPr lang="en-US" b="true" sz="1927" spc="-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1927" spc="-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oaching staff ， scouting departments</a:t>
            </a:r>
          </a:p>
          <a:p>
            <a:pPr algn="l">
              <a:lnSpc>
                <a:spcPts val="2120"/>
              </a:lnSpc>
            </a:pPr>
          </a:p>
          <a:p>
            <a:pPr algn="l" marL="416253" indent="-208127" lvl="1">
              <a:lnSpc>
                <a:spcPts val="2120"/>
              </a:lnSpc>
              <a:buFont typeface="Arial"/>
              <a:buChar char="•"/>
            </a:pPr>
            <a:r>
              <a:rPr lang="en-US" b="true" sz="1927" spc="-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analysts &amp;  strategy groups</a:t>
            </a:r>
          </a:p>
          <a:p>
            <a:pPr algn="l">
              <a:lnSpc>
                <a:spcPts val="2120"/>
              </a:lnSpc>
            </a:pPr>
          </a:p>
          <a:p>
            <a:pPr algn="l" marL="416253" indent="-208127" lvl="1">
              <a:lnSpc>
                <a:spcPts val="2120"/>
              </a:lnSpc>
              <a:buFont typeface="Arial"/>
              <a:buChar char="•"/>
            </a:pPr>
            <a:r>
              <a:rPr lang="en-US" b="true" sz="1927" spc="-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rely on form of pre-game expectation to maatchup strength</a:t>
            </a:r>
          </a:p>
          <a:p>
            <a:pPr algn="l">
              <a:lnSpc>
                <a:spcPts val="2120"/>
              </a:lnSpc>
            </a:pPr>
          </a:p>
          <a:p>
            <a:pPr algn="l">
              <a:lnSpc>
                <a:spcPts val="2120"/>
              </a:lnSpc>
            </a:pPr>
          </a:p>
          <a:p>
            <a:pPr algn="l">
              <a:lnSpc>
                <a:spcPts val="212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912284" y="5621572"/>
            <a:ext cx="4686563" cy="236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</a:p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b="true" sz="2113" spc="-63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 we build a model that predicts the probability that the home team wins a game?</a:t>
            </a:r>
          </a:p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2113" spc="-63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can this pre-game signal be strong enough to support real decision-making?</a:t>
            </a:r>
          </a:p>
          <a:p>
            <a:pPr algn="l">
              <a:lnSpc>
                <a:spcPts val="2325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2921979" y="6264668"/>
            <a:ext cx="5366021" cy="286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</a:p>
          <a:p>
            <a:pPr algn="l" marL="447292" indent="-223646" lvl="1">
              <a:lnSpc>
                <a:spcPts val="2278"/>
              </a:lnSpc>
              <a:buFont typeface="Arial"/>
              <a:buChar char="•"/>
            </a:pP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Supports pre-game decision making (expectations, game plans).</a:t>
            </a:r>
          </a:p>
          <a:p>
            <a:pPr algn="l">
              <a:lnSpc>
                <a:spcPts val="2278"/>
              </a:lnSpc>
            </a:pPr>
          </a:p>
          <a:p>
            <a:pPr algn="l" marL="447292" indent="-223646" lvl="1">
              <a:lnSpc>
                <a:spcPts val="2278"/>
              </a:lnSpc>
              <a:buFont typeface="Arial"/>
              <a:buChar char="•"/>
            </a:pP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probabilistic win chances instead of only descriptive stats.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071" spc="-6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Offers a framework that can be extended to live in-game win-probability models.</a:t>
            </a:r>
          </a:p>
          <a:p>
            <a:pPr algn="l">
              <a:lnSpc>
                <a:spcPts val="227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483" y="612686"/>
            <a:ext cx="8252517" cy="298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4"/>
              </a:lnSpc>
            </a:pPr>
            <a:r>
              <a:rPr lang="en-US" sz="8252" i="true" spc="-165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PROJECT GOALS</a:t>
            </a:r>
          </a:p>
          <a:p>
            <a:pPr algn="l">
              <a:lnSpc>
                <a:spcPts val="7674"/>
              </a:lnSpc>
            </a:pPr>
          </a:p>
          <a:p>
            <a:pPr algn="l">
              <a:lnSpc>
                <a:spcPts val="7674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45559" y="2499650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5" y="0"/>
                </a:lnTo>
                <a:lnTo>
                  <a:pt x="406275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914677" y="4494116"/>
            <a:ext cx="7397804" cy="731321"/>
            <a:chOff x="0" y="0"/>
            <a:chExt cx="1948393" cy="1926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8393" cy="192611"/>
            </a:xfrm>
            <a:custGeom>
              <a:avLst/>
              <a:gdLst/>
              <a:ahLst/>
              <a:cxnLst/>
              <a:rect r="r" b="b" t="t" l="l"/>
              <a:pathLst>
                <a:path h="192611" w="1948393">
                  <a:moveTo>
                    <a:pt x="0" y="0"/>
                  </a:moveTo>
                  <a:lnTo>
                    <a:pt x="1948393" y="0"/>
                  </a:lnTo>
                  <a:lnTo>
                    <a:pt x="1948393" y="192611"/>
                  </a:lnTo>
                  <a:lnTo>
                    <a:pt x="0" y="192611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948393" cy="183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041518"/>
            <a:ext cx="7407679" cy="6384072"/>
          </a:xfrm>
          <a:custGeom>
            <a:avLst/>
            <a:gdLst/>
            <a:ahLst/>
            <a:cxnLst/>
            <a:rect r="r" b="b" t="t" l="l"/>
            <a:pathLst>
              <a:path h="6384072" w="7407679">
                <a:moveTo>
                  <a:pt x="0" y="0"/>
                </a:moveTo>
                <a:lnTo>
                  <a:pt x="7407679" y="0"/>
                </a:lnTo>
                <a:lnTo>
                  <a:pt x="7407679" y="6384073"/>
                </a:lnTo>
                <a:lnTo>
                  <a:pt x="0" y="6384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7889856" y="2154233"/>
            <a:ext cx="4651623" cy="3109616"/>
            <a:chOff x="0" y="0"/>
            <a:chExt cx="2218613" cy="14831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613" cy="1483146"/>
            </a:xfrm>
            <a:custGeom>
              <a:avLst/>
              <a:gdLst/>
              <a:ahLst/>
              <a:cxnLst/>
              <a:rect r="r" b="b" t="t" l="l"/>
              <a:pathLst>
                <a:path h="1483146" w="2218613">
                  <a:moveTo>
                    <a:pt x="2218613" y="0"/>
                  </a:moveTo>
                  <a:lnTo>
                    <a:pt x="0" y="0"/>
                  </a:lnTo>
                  <a:lnTo>
                    <a:pt x="0" y="1295186"/>
                  </a:lnTo>
                  <a:lnTo>
                    <a:pt x="157480" y="1295186"/>
                  </a:lnTo>
                  <a:lnTo>
                    <a:pt x="157480" y="1483146"/>
                  </a:lnTo>
                  <a:lnTo>
                    <a:pt x="463550" y="1295186"/>
                  </a:lnTo>
                  <a:lnTo>
                    <a:pt x="2218613" y="1295186"/>
                  </a:lnTo>
                  <a:lnTo>
                    <a:pt x="2218613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218613" cy="1283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7019" y="317826"/>
            <a:ext cx="7573085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1"/>
              </a:lnSpc>
            </a:pPr>
            <a:r>
              <a:rPr lang="en-US" sz="6399" i="true" spc="-127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#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9856" y="2109993"/>
            <a:ext cx="4293770" cy="315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</a:p>
          <a:p>
            <a:pPr algn="l" marL="447291" indent="-223646" lvl="1">
              <a:lnSpc>
                <a:spcPts val="2278"/>
              </a:lnSpc>
              <a:buFont typeface="Arial"/>
              <a:buChar char="•"/>
            </a:pP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</a:t>
            </a: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lop a predictive model to forecast NFL game outcomes (Win/Loss).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</a:p>
          <a:p>
            <a:pPr algn="l" marL="447291" indent="-223646" lvl="1">
              <a:lnSpc>
                <a:spcPts val="2278"/>
              </a:lnSpc>
              <a:buFont typeface="Arial"/>
              <a:buChar char="•"/>
            </a:pPr>
            <a:r>
              <a:rPr lang="en-US" b="true" sz="2071" spc="-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 data-driven insights that support decision-making for multiple stakeholders.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3102121" y="3041518"/>
            <a:ext cx="6318822" cy="466847"/>
            <a:chOff x="0" y="0"/>
            <a:chExt cx="1664217" cy="1229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4216" cy="122956"/>
            </a:xfrm>
            <a:custGeom>
              <a:avLst/>
              <a:gdLst/>
              <a:ahLst/>
              <a:cxnLst/>
              <a:rect r="r" b="b" t="t" l="l"/>
              <a:pathLst>
                <a:path h="122956" w="1664216">
                  <a:moveTo>
                    <a:pt x="0" y="0"/>
                  </a:moveTo>
                  <a:lnTo>
                    <a:pt x="1664216" y="0"/>
                  </a:lnTo>
                  <a:lnTo>
                    <a:pt x="1664216" y="122956"/>
                  </a:lnTo>
                  <a:lnTo>
                    <a:pt x="0" y="122956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664217" cy="113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50862" y="3677396"/>
            <a:ext cx="4395668" cy="4998872"/>
            <a:chOff x="0" y="0"/>
            <a:chExt cx="3172183" cy="36074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2183" cy="3607491"/>
            </a:xfrm>
            <a:custGeom>
              <a:avLst/>
              <a:gdLst/>
              <a:ahLst/>
              <a:cxnLst/>
              <a:rect r="r" b="b" t="t" l="l"/>
              <a:pathLst>
                <a:path h="3607491" w="3172183">
                  <a:moveTo>
                    <a:pt x="3172183" y="0"/>
                  </a:moveTo>
                  <a:lnTo>
                    <a:pt x="0" y="0"/>
                  </a:lnTo>
                  <a:lnTo>
                    <a:pt x="0" y="3419531"/>
                  </a:lnTo>
                  <a:lnTo>
                    <a:pt x="157480" y="3419531"/>
                  </a:lnTo>
                  <a:lnTo>
                    <a:pt x="157480" y="3607491"/>
                  </a:lnTo>
                  <a:lnTo>
                    <a:pt x="463550" y="3419531"/>
                  </a:lnTo>
                  <a:lnTo>
                    <a:pt x="3172183" y="3419531"/>
                  </a:lnTo>
                  <a:lnTo>
                    <a:pt x="3172183" y="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172183" cy="3407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41479" y="2917480"/>
            <a:ext cx="6343514" cy="51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</a:p>
          <a:p>
            <a:pPr algn="ctr">
              <a:lnSpc>
                <a:spcPts val="2042"/>
              </a:lnSpc>
            </a:pP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</a:t>
            </a:r>
            <a:r>
              <a:rPr lang="en-US" b="true" sz="1857" spc="-5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 decision-making for stakeholders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22335" y="4028065"/>
            <a:ext cx="4052723" cy="462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</a:p>
          <a:p>
            <a:pPr algn="l" marL="444541" indent="-222271" lvl="1">
              <a:lnSpc>
                <a:spcPts val="2470"/>
              </a:lnSpc>
              <a:buFont typeface="Arial"/>
              <a:buChar char="•"/>
            </a:pPr>
            <a:r>
              <a:rPr lang="en-US" b="true" sz="2059" spc="-6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059" spc="-6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oaches/teams: adjust strategies improve performance before games</a:t>
            </a:r>
          </a:p>
          <a:p>
            <a:pPr algn="l">
              <a:lnSpc>
                <a:spcPts val="2470"/>
              </a:lnSpc>
            </a:pPr>
          </a:p>
          <a:p>
            <a:pPr algn="l" marL="444541" indent="-222271" lvl="1">
              <a:lnSpc>
                <a:spcPts val="2470"/>
              </a:lnSpc>
              <a:buFont typeface="Arial"/>
              <a:buChar char="•"/>
            </a:pPr>
            <a:r>
              <a:rPr lang="en-US" b="true" sz="2059" spc="-6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Media/analysts: deliver more accurate predictions and commentary.</a:t>
            </a:r>
          </a:p>
          <a:p>
            <a:pPr algn="l">
              <a:lnSpc>
                <a:spcPts val="2470"/>
              </a:lnSpc>
            </a:pPr>
          </a:p>
          <a:p>
            <a:pPr algn="l" marL="444541" indent="-222271" lvl="1">
              <a:lnSpc>
                <a:spcPts val="2470"/>
              </a:lnSpc>
              <a:buFont typeface="Arial"/>
              <a:buChar char="•"/>
            </a:pPr>
            <a:r>
              <a:rPr lang="en-US" b="true" sz="2059" spc="-6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Fans: enjoy deeper engagement and enhanced viewing experience.</a:t>
            </a:r>
          </a:p>
          <a:p>
            <a:pPr algn="ctr">
              <a:lnSpc>
                <a:spcPts val="2470"/>
              </a:lnSpc>
            </a:pPr>
          </a:p>
          <a:p>
            <a:pPr algn="ctr">
              <a:lnSpc>
                <a:spcPts val="2470"/>
              </a:lnSpc>
            </a:pPr>
          </a:p>
          <a:p>
            <a:pPr algn="ctr">
              <a:lnSpc>
                <a:spcPts val="2470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030104" y="1600043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5" y="0"/>
                </a:lnTo>
                <a:lnTo>
                  <a:pt x="406275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2332" y="201295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414287" y="6655487"/>
            <a:ext cx="6640522" cy="830491"/>
            <a:chOff x="0" y="0"/>
            <a:chExt cx="1272067" cy="159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2067" cy="159090"/>
            </a:xfrm>
            <a:custGeom>
              <a:avLst/>
              <a:gdLst/>
              <a:ahLst/>
              <a:cxnLst/>
              <a:rect r="r" b="b" t="t" l="l"/>
              <a:pathLst>
                <a:path h="159090" w="1272067">
                  <a:moveTo>
                    <a:pt x="203200" y="0"/>
                  </a:moveTo>
                  <a:lnTo>
                    <a:pt x="1272067" y="0"/>
                  </a:lnTo>
                  <a:lnTo>
                    <a:pt x="1068867" y="159090"/>
                  </a:lnTo>
                  <a:lnTo>
                    <a:pt x="0" y="15909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9525"/>
              <a:ext cx="1068867" cy="149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50931" y="890399"/>
            <a:ext cx="6859429" cy="5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99"/>
              </a:lnSpc>
            </a:pPr>
            <a:r>
              <a:rPr lang="en-US" sz="11935" i="true" spc="-238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DATASET DESCRIPTION</a:t>
            </a:r>
          </a:p>
          <a:p>
            <a:pPr algn="l">
              <a:lnSpc>
                <a:spcPts val="11099"/>
              </a:lnSpc>
            </a:pPr>
          </a:p>
          <a:p>
            <a:pPr algn="l">
              <a:lnSpc>
                <a:spcPts val="110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88606" y="3647675"/>
            <a:ext cx="4397456" cy="6536759"/>
          </a:xfrm>
          <a:custGeom>
            <a:avLst/>
            <a:gdLst/>
            <a:ahLst/>
            <a:cxnLst/>
            <a:rect r="r" b="b" t="t" l="l"/>
            <a:pathLst>
              <a:path h="6536759" w="4397456">
                <a:moveTo>
                  <a:pt x="4397457" y="0"/>
                </a:moveTo>
                <a:lnTo>
                  <a:pt x="0" y="0"/>
                </a:lnTo>
                <a:lnTo>
                  <a:pt x="0" y="6536759"/>
                </a:lnTo>
                <a:lnTo>
                  <a:pt x="4397457" y="6536759"/>
                </a:lnTo>
                <a:lnTo>
                  <a:pt x="43974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711735">
            <a:off x="701664" y="3864500"/>
            <a:ext cx="654073" cy="929174"/>
            <a:chOff x="0" y="0"/>
            <a:chExt cx="57215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153" cy="812800"/>
            </a:xfrm>
            <a:custGeom>
              <a:avLst/>
              <a:gdLst/>
              <a:ahLst/>
              <a:cxnLst/>
              <a:rect r="r" b="b" t="t" l="l"/>
              <a:pathLst>
                <a:path h="812800" w="572153">
                  <a:moveTo>
                    <a:pt x="286077" y="0"/>
                  </a:moveTo>
                  <a:cubicBezTo>
                    <a:pt x="128081" y="0"/>
                    <a:pt x="0" y="181951"/>
                    <a:pt x="0" y="406400"/>
                  </a:cubicBezTo>
                  <a:cubicBezTo>
                    <a:pt x="0" y="630849"/>
                    <a:pt x="128081" y="812800"/>
                    <a:pt x="286077" y="812800"/>
                  </a:cubicBezTo>
                  <a:cubicBezTo>
                    <a:pt x="444073" y="812800"/>
                    <a:pt x="572153" y="630849"/>
                    <a:pt x="572153" y="406400"/>
                  </a:cubicBezTo>
                  <a:cubicBezTo>
                    <a:pt x="572153" y="181951"/>
                    <a:pt x="444073" y="0"/>
                    <a:pt x="286077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3639" y="85725"/>
              <a:ext cx="464875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97137" y="809407"/>
            <a:ext cx="414366" cy="4143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22255" y="8796553"/>
            <a:ext cx="414366" cy="41436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402003" y="567867"/>
            <a:ext cx="9320252" cy="78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0"/>
              </a:lnSpc>
            </a:pPr>
            <a:r>
              <a:rPr lang="en-US" sz="3492" spc="-104" b="true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NFL Game Data: Scores &amp; Plays (2009-2018)</a:t>
            </a:r>
          </a:p>
          <a:p>
            <a:pPr algn="l">
              <a:lnSpc>
                <a:spcPts val="214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402003" y="1306614"/>
            <a:ext cx="9159916" cy="21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4"/>
              </a:lnSpc>
            </a:pPr>
            <a:r>
              <a:rPr lang="en-US" b="true" sz="2553" spc="-7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</a:t>
            </a:r>
            <a:r>
              <a:rPr lang="en-US" b="true" sz="2553" spc="-7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ey Variables: </a:t>
            </a:r>
          </a:p>
          <a:p>
            <a:pPr algn="l">
              <a:lnSpc>
                <a:spcPts val="3064"/>
              </a:lnSpc>
            </a:pPr>
            <a:r>
              <a:rPr lang="en-US" sz="2553" spc="-7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Season, Week, GameStatus, Day, Date, AwayTeam, AwayRecord, AwayScore, AwayWin, HomeTeam...game level</a:t>
            </a:r>
          </a:p>
          <a:p>
            <a:pPr algn="just">
              <a:lnSpc>
                <a:spcPts val="3941"/>
              </a:lnSpc>
            </a:pPr>
          </a:p>
          <a:p>
            <a:pPr algn="just">
              <a:lnSpc>
                <a:spcPts val="394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01175" y="485367"/>
            <a:ext cx="1287432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1"/>
              </a:lnSpc>
            </a:pPr>
            <a:r>
              <a:rPr lang="en-US" sz="6399" i="true" spc="-127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#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02003" y="2782427"/>
            <a:ext cx="8022237" cy="175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4"/>
              </a:lnSpc>
            </a:pPr>
            <a:r>
              <a:rPr lang="en-US" b="true" sz="2553" spc="-7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</a:t>
            </a:r>
            <a:r>
              <a:rPr lang="en-US" b="true" sz="2553" spc="-7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Links:</a:t>
            </a:r>
          </a:p>
          <a:p>
            <a:pPr algn="just">
              <a:lnSpc>
                <a:spcPts val="3064"/>
              </a:lnSpc>
            </a:pPr>
          </a:p>
          <a:p>
            <a:pPr algn="just">
              <a:lnSpc>
                <a:spcPts val="3941"/>
              </a:lnSpc>
            </a:pPr>
          </a:p>
          <a:p>
            <a:pPr algn="just">
              <a:lnSpc>
                <a:spcPts val="394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534591" y="3454272"/>
            <a:ext cx="692207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4"/>
              </a:lnSpc>
            </a:pPr>
            <a:r>
              <a:rPr lang="en-US" sz="2553" spc="-76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www.kaggle.com/datasets/maxhorowitz/nflplaybyplay2009to2016/code"/>
              </a:rPr>
              <a:t>https://www.kaggle.com/datasets/maxhorowitz/nflplaybyplay2009to2016/code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423645" y="4850978"/>
            <a:ext cx="8319217" cy="4301707"/>
          </a:xfrm>
          <a:custGeom>
            <a:avLst/>
            <a:gdLst/>
            <a:ahLst/>
            <a:cxnLst/>
            <a:rect r="r" b="b" t="t" l="l"/>
            <a:pathLst>
              <a:path h="4301707" w="8319217">
                <a:moveTo>
                  <a:pt x="0" y="0"/>
                </a:moveTo>
                <a:lnTo>
                  <a:pt x="8319217" y="0"/>
                </a:lnTo>
                <a:lnTo>
                  <a:pt x="8319217" y="4301707"/>
                </a:lnTo>
                <a:lnTo>
                  <a:pt x="0" y="43017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888" t="-37383" r="-4221" b="-28693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169352" y="6237812"/>
            <a:ext cx="6392567" cy="3020488"/>
          </a:xfrm>
          <a:custGeom>
            <a:avLst/>
            <a:gdLst/>
            <a:ahLst/>
            <a:cxnLst/>
            <a:rect r="r" b="b" t="t" l="l"/>
            <a:pathLst>
              <a:path h="3020488" w="6392567">
                <a:moveTo>
                  <a:pt x="0" y="0"/>
                </a:moveTo>
                <a:lnTo>
                  <a:pt x="6392567" y="0"/>
                </a:lnTo>
                <a:lnTo>
                  <a:pt x="6392567" y="3020488"/>
                </a:lnTo>
                <a:lnTo>
                  <a:pt x="0" y="30204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456" y="548538"/>
            <a:ext cx="9285867" cy="884123"/>
            <a:chOff x="0" y="0"/>
            <a:chExt cx="2236299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299" cy="212922"/>
            </a:xfrm>
            <a:custGeom>
              <a:avLst/>
              <a:gdLst/>
              <a:ahLst/>
              <a:cxnLst/>
              <a:rect r="r" b="b" t="t" l="l"/>
              <a:pathLst>
                <a:path h="212922" w="2236299">
                  <a:moveTo>
                    <a:pt x="0" y="0"/>
                  </a:moveTo>
                  <a:lnTo>
                    <a:pt x="2236299" y="0"/>
                  </a:lnTo>
                  <a:lnTo>
                    <a:pt x="2236299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36299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76917" y="3356766"/>
            <a:ext cx="8322469" cy="2740555"/>
          </a:xfrm>
          <a:custGeom>
            <a:avLst/>
            <a:gdLst/>
            <a:ahLst/>
            <a:cxnLst/>
            <a:rect r="r" b="b" t="t" l="l"/>
            <a:pathLst>
              <a:path h="2740555" w="8322469">
                <a:moveTo>
                  <a:pt x="0" y="0"/>
                </a:moveTo>
                <a:lnTo>
                  <a:pt x="8322469" y="0"/>
                </a:lnTo>
                <a:lnTo>
                  <a:pt x="8322469" y="2740555"/>
                </a:lnTo>
                <a:lnTo>
                  <a:pt x="0" y="2740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6" t="0" r="-3487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76917" y="6097321"/>
            <a:ext cx="8322469" cy="2844228"/>
          </a:xfrm>
          <a:custGeom>
            <a:avLst/>
            <a:gdLst/>
            <a:ahLst/>
            <a:cxnLst/>
            <a:rect r="r" b="b" t="t" l="l"/>
            <a:pathLst>
              <a:path h="2844228" w="8322469">
                <a:moveTo>
                  <a:pt x="0" y="0"/>
                </a:moveTo>
                <a:lnTo>
                  <a:pt x="8322469" y="0"/>
                </a:lnTo>
                <a:lnTo>
                  <a:pt x="8322469" y="2844228"/>
                </a:lnTo>
                <a:lnTo>
                  <a:pt x="0" y="284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78" r="-18830" b="-66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37326" y="326377"/>
            <a:ext cx="8937923" cy="157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6519" i="true" spc="-130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 Data Preparation</a:t>
            </a:r>
          </a:p>
          <a:p>
            <a:pPr algn="l">
              <a:lnSpc>
                <a:spcPts val="606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31655" y="905008"/>
            <a:ext cx="9433875" cy="899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</a:p>
          <a:p>
            <a:pPr algn="l">
              <a:lnSpc>
                <a:spcPts val="3761"/>
              </a:lnSpc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Missing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Values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SimpleImputer(strategy="median")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inside a numeric pipeline.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 features are numeric; no categorical encoding is needed at this stage.</a:t>
            </a:r>
          </a:p>
          <a:p>
            <a:pPr algn="l">
              <a:lnSpc>
                <a:spcPts val="3761"/>
              </a:lnSpc>
            </a:pPr>
            <a:r>
              <a:rPr lang="en-US" sz="3483" spc="-22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Train/Test Split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 train_test_spl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it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w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th:</a:t>
            </a:r>
          </a:p>
          <a:p>
            <a:pPr algn="l" marL="1504066" indent="-501355" lvl="2">
              <a:lnSpc>
                <a:spcPts val="3761"/>
              </a:lnSpc>
              <a:buFont typeface="Arial"/>
              <a:buChar char="⚬"/>
            </a:pP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t_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ze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=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0.2</a:t>
            </a:r>
          </a:p>
          <a:p>
            <a:pPr algn="l" marL="1504066" indent="-501355" lvl="2">
              <a:lnSpc>
                <a:spcPts val="3761"/>
              </a:lnSpc>
              <a:buFont typeface="Arial"/>
              <a:buChar char="⚬"/>
            </a:pP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strati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fy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=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y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t</a:t>
            </a: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 preserve class balance</a:t>
            </a:r>
          </a:p>
          <a:p>
            <a:pPr algn="l" marL="1504066" indent="-501355" lvl="2">
              <a:lnSpc>
                <a:spcPts val="3761"/>
              </a:lnSpc>
              <a:buFont typeface="Arial"/>
              <a:buChar char="⚬"/>
            </a:pPr>
            <a:r>
              <a:rPr lang="en-US" b="true" sz="3483" spc="-2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groups = home team for later LOSO CV</a:t>
            </a:r>
          </a:p>
          <a:p>
            <a:pPr algn="l">
              <a:lnSpc>
                <a:spcPts val="3761"/>
              </a:lnSpc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Preprocessing with C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ol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umnT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former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Wr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 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mput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ation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 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Col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mnT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ran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rmer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("p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ep" step).</a:t>
            </a:r>
          </a:p>
          <a:p>
            <a:pPr algn="l">
              <a:lnSpc>
                <a:spcPts val="3761"/>
              </a:lnSpc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Scaling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Strategies (compared later):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scaler (None)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StandardScaler</a:t>
            </a:r>
          </a:p>
          <a:p>
            <a:pPr algn="l" marL="752033" indent="-376017" lvl="1">
              <a:lnSpc>
                <a:spcPts val="3761"/>
              </a:lnSpc>
              <a:buFont typeface="Arial"/>
              <a:buChar char="•"/>
            </a:pPr>
            <a:r>
              <a:rPr lang="en-US" sz="3483" spc="-22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MinMaxScaler</a:t>
            </a:r>
          </a:p>
          <a:p>
            <a:pPr algn="l">
              <a:lnSpc>
                <a:spcPts val="305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5611" y="400289"/>
            <a:ext cx="11131381" cy="884123"/>
            <a:chOff x="0" y="0"/>
            <a:chExt cx="2680750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0750" cy="212922"/>
            </a:xfrm>
            <a:custGeom>
              <a:avLst/>
              <a:gdLst/>
              <a:ahLst/>
              <a:cxnLst/>
              <a:rect r="r" b="b" t="t" l="l"/>
              <a:pathLst>
                <a:path h="212922" w="2680750">
                  <a:moveTo>
                    <a:pt x="0" y="0"/>
                  </a:moveTo>
                  <a:lnTo>
                    <a:pt x="2680750" y="0"/>
                  </a:lnTo>
                  <a:lnTo>
                    <a:pt x="2680750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680750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05611" y="243169"/>
            <a:ext cx="16982389" cy="174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529" i="true" spc="-130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Feature Engineering: Recent Team Form</a:t>
            </a:r>
          </a:p>
          <a:p>
            <a:pPr algn="l">
              <a:lnSpc>
                <a:spcPts val="719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834540"/>
            <a:ext cx="16956064" cy="845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b="true" sz="4080" spc="-40">
                <a:solidFill>
                  <a:srgbClr val="704FE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CLASSIFICATION PROBLEM</a:t>
            </a:r>
          </a:p>
          <a:p>
            <a:pPr algn="l">
              <a:lnSpc>
                <a:spcPts val="3347"/>
              </a:lnSpc>
            </a:pPr>
            <a:r>
              <a:rPr lang="en-US" sz="3599" spc="-35">
                <a:solidFill>
                  <a:srgbClr val="704F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Predict if the home team will win in a certain game (home win = 1 or 0).</a:t>
            </a:r>
          </a:p>
          <a:p>
            <a:pPr algn="l">
              <a:lnSpc>
                <a:spcPts val="4072"/>
              </a:lnSpc>
            </a:pPr>
          </a:p>
          <a:p>
            <a:pPr algn="l">
              <a:lnSpc>
                <a:spcPts val="3608"/>
              </a:lnSpc>
            </a:pPr>
            <a:r>
              <a:rPr lang="en-US" b="true" sz="3879" spc="-3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PREDICTORS</a:t>
            </a:r>
          </a:p>
          <a:p>
            <a:pPr algn="l">
              <a:lnSpc>
                <a:spcPts val="2863"/>
              </a:lnSpc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engineered g</a:t>
            </a: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ame-level features from prior games, including:</a:t>
            </a:r>
          </a:p>
          <a:p>
            <a:pPr algn="l">
              <a:lnSpc>
                <a:spcPts val="2863"/>
              </a:lnSpc>
            </a:pPr>
          </a:p>
          <a:p>
            <a:pPr algn="l" marL="664854" indent="-332427" lvl="1">
              <a:lnSpc>
                <a:spcPts val="2863"/>
              </a:lnSpc>
              <a:buFont typeface="Arial"/>
              <a:buChar char="•"/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 win rate of each team</a:t>
            </a:r>
          </a:p>
          <a:p>
            <a:pPr algn="l" marL="664854" indent="-332427" lvl="1">
              <a:lnSpc>
                <a:spcPts val="2863"/>
              </a:lnSpc>
              <a:buFont typeface="Arial"/>
              <a:buChar char="•"/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 average point difference</a:t>
            </a:r>
          </a:p>
          <a:p>
            <a:pPr algn="l" marL="664854" indent="-332427" lvl="1">
              <a:lnSpc>
                <a:spcPts val="2863"/>
              </a:lnSpc>
              <a:buFont typeface="Arial"/>
              <a:buChar char="•"/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 scoring performance (points for/against)</a:t>
            </a:r>
          </a:p>
          <a:p>
            <a:pPr algn="l" marL="664854" indent="-332427" lvl="1">
              <a:lnSpc>
                <a:spcPts val="2863"/>
              </a:lnSpc>
              <a:buFont typeface="Arial"/>
              <a:buChar char="•"/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Tot</a:t>
            </a: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 recent wins</a:t>
            </a:r>
          </a:p>
          <a:p>
            <a:pPr algn="l" marL="664854" indent="-332427" lvl="1">
              <a:lnSpc>
                <a:spcPts val="2863"/>
              </a:lnSpc>
              <a:buFont typeface="Arial"/>
              <a:buChar char="•"/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Days since last game</a:t>
            </a:r>
          </a:p>
          <a:p>
            <a:pPr algn="l">
              <a:lnSpc>
                <a:spcPts val="2863"/>
              </a:lnSpc>
            </a:pPr>
          </a:p>
          <a:p>
            <a:pPr algn="l">
              <a:lnSpc>
                <a:spcPts val="2863"/>
              </a:lnSpc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then computed the difference between home and away teams on each of these metrics to capture matchup strength.</a:t>
            </a:r>
          </a:p>
          <a:p>
            <a:pPr algn="l">
              <a:lnSpc>
                <a:spcPts val="2863"/>
              </a:lnSpc>
            </a:pPr>
          </a:p>
          <a:p>
            <a:pPr algn="l">
              <a:lnSpc>
                <a:spcPts val="3608"/>
              </a:lnSpc>
            </a:pPr>
            <a:r>
              <a:rPr lang="en-US" b="true" sz="3879" spc="-3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IMPORTANCE</a:t>
            </a:r>
          </a:p>
          <a:p>
            <a:pPr algn="l">
              <a:lnSpc>
                <a:spcPts val="2863"/>
              </a:lnSpc>
            </a:pP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ALLOWS TEAMS TO OPTIMIZE</a:t>
            </a:r>
            <a:r>
              <a:rPr lang="en-US" sz="3079" spc="-3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play-calling decisions and evaluate performance, turning raw game data into strategic insights.</a:t>
            </a:r>
          </a:p>
          <a:p>
            <a:pPr algn="l">
              <a:lnSpc>
                <a:spcPts val="2863"/>
              </a:lnSpc>
            </a:pPr>
          </a:p>
          <a:p>
            <a:pPr algn="l">
              <a:lnSpc>
                <a:spcPts val="3347"/>
              </a:lnSpc>
            </a:pPr>
          </a:p>
          <a:p>
            <a:pPr algn="l">
              <a:lnSpc>
                <a:spcPts val="467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258300"/>
            <a:ext cx="18940634" cy="3086100"/>
            <a:chOff x="0" y="0"/>
            <a:chExt cx="498848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812800"/>
            </a:xfrm>
            <a:custGeom>
              <a:avLst/>
              <a:gdLst/>
              <a:ahLst/>
              <a:cxnLst/>
              <a:rect r="r" b="b" t="t" l="l"/>
              <a:pathLst>
                <a:path h="812800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2426" y="474371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72479" y="4781213"/>
            <a:ext cx="4186821" cy="4605504"/>
          </a:xfrm>
          <a:custGeom>
            <a:avLst/>
            <a:gdLst/>
            <a:ahLst/>
            <a:cxnLst/>
            <a:rect r="r" b="b" t="t" l="l"/>
            <a:pathLst>
              <a:path h="4605504" w="4186821">
                <a:moveTo>
                  <a:pt x="0" y="0"/>
                </a:moveTo>
                <a:lnTo>
                  <a:pt x="4186821" y="0"/>
                </a:lnTo>
                <a:lnTo>
                  <a:pt x="4186821" y="4605504"/>
                </a:lnTo>
                <a:lnTo>
                  <a:pt x="0" y="4605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2882455" y="359245"/>
            <a:ext cx="5405545" cy="382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2"/>
              </a:lnSpc>
            </a:pPr>
            <a:r>
              <a:rPr lang="en-US" sz="6432" i="true" spc="-128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Matchup Fe</a:t>
            </a:r>
            <a:r>
              <a:rPr lang="en-US" sz="6432" i="true" spc="-128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ATURES &amp; FINAL FEATURE SET</a:t>
            </a:r>
          </a:p>
          <a:p>
            <a:pPr algn="l">
              <a:lnSpc>
                <a:spcPts val="5982"/>
              </a:lnSpc>
            </a:pPr>
          </a:p>
          <a:p>
            <a:pPr algn="l">
              <a:lnSpc>
                <a:spcPts val="598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210804" y="873151"/>
            <a:ext cx="9731761" cy="8118774"/>
            <a:chOff x="0" y="0"/>
            <a:chExt cx="2343682" cy="19552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3682" cy="1955230"/>
            </a:xfrm>
            <a:custGeom>
              <a:avLst/>
              <a:gdLst/>
              <a:ahLst/>
              <a:cxnLst/>
              <a:rect r="r" b="b" t="t" l="l"/>
              <a:pathLst>
                <a:path h="1955230" w="2343682">
                  <a:moveTo>
                    <a:pt x="0" y="0"/>
                  </a:moveTo>
                  <a:lnTo>
                    <a:pt x="2343682" y="0"/>
                  </a:lnTo>
                  <a:lnTo>
                    <a:pt x="2343682" y="1955230"/>
                  </a:lnTo>
                  <a:lnTo>
                    <a:pt x="0" y="1955230"/>
                  </a:lnTo>
                  <a:close/>
                </a:path>
              </a:pathLst>
            </a:custGeom>
            <a:solidFill>
              <a:srgbClr val="4230C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343682" cy="194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06973" y="1024471"/>
            <a:ext cx="9139422" cy="74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6"/>
              </a:lnSpc>
            </a:pPr>
          </a:p>
          <a:p>
            <a:pPr algn="l">
              <a:lnSpc>
                <a:spcPts val="2806"/>
              </a:lnSpc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AFTER COMPUTING TEAM-LEVEL RECENT FORM, WE MERGED HOME AND AWAY RECENT STATS BACK INTO THE GAME TABLE.</a:t>
            </a:r>
          </a:p>
          <a:p>
            <a:pPr algn="l" marL="496572" indent="-248286" lvl="1">
              <a:lnSpc>
                <a:spcPts val="2806"/>
              </a:lnSpc>
              <a:buFont typeface="Arial"/>
              <a:buChar char="•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CREATE DIFFERENCE-BASED FEATURES FOR THE MATCHUP:</a:t>
            </a:r>
          </a:p>
          <a:p>
            <a:pPr algn="l">
              <a:lnSpc>
                <a:spcPts val="2806"/>
              </a:lnSpc>
            </a:pP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RECENT_WIN_RATE_DIFF = HOME_RECENT_WIN_RATE – AWAY_RECENT_WIN_RATE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RECENT_POINT_DIFF_DIFF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RECENT_POINTS_FOR_DIFF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RECENT_POINTS_AGAINST_DIFF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RECENT_WINS_DIFF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REST_DAYS_DIFF = HOME_DAYS_SINCE_LAST_GAME – AWAY_DAYS_SINCE_LAST_GAME</a:t>
            </a:r>
          </a:p>
          <a:p>
            <a:pPr algn="l">
              <a:lnSpc>
                <a:spcPts val="2806"/>
              </a:lnSpc>
            </a:pPr>
          </a:p>
          <a:p>
            <a:pPr algn="l">
              <a:lnSpc>
                <a:spcPts val="2806"/>
              </a:lnSpc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ALL ENGINEERED NUMERIC COLUMNS ARE FILLED WITH 0 TO ENSURE NO MISSING VALUES IN THE MODEL INPUT.</a:t>
            </a:r>
          </a:p>
          <a:p>
            <a:pPr algn="l" marL="496572" indent="-248286" lvl="1">
              <a:lnSpc>
                <a:spcPts val="2806"/>
              </a:lnSpc>
              <a:buFont typeface="Arial"/>
              <a:buChar char="•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FINAL FEATURE SET: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ALL NUMERIC ENGINEERED FEATURES EXCEPT IDENTIFIERS AND LEAKAGE FIELDS:</a:t>
            </a:r>
          </a:p>
          <a:p>
            <a:pPr algn="l" marL="993144" indent="-331048" lvl="2">
              <a:lnSpc>
                <a:spcPts val="2806"/>
              </a:lnSpc>
              <a:buFont typeface="Arial"/>
              <a:buChar char="⚬"/>
            </a:pPr>
            <a:r>
              <a:rPr lang="en-US" sz="2300" i="true" spc="4" strike="noStrike" u="non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EXCLUDE: GAME_ID, GAME_DATE, HOME_TEAM, AWAY_TEAM, HOME_POINTS, AWAY_POINTS, HOME_WIN.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79038" y="276240"/>
            <a:ext cx="2515155" cy="795042"/>
            <a:chOff x="0" y="0"/>
            <a:chExt cx="605720" cy="191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5720" cy="191468"/>
            </a:xfrm>
            <a:custGeom>
              <a:avLst/>
              <a:gdLst/>
              <a:ahLst/>
              <a:cxnLst/>
              <a:rect r="r" b="b" t="t" l="l"/>
              <a:pathLst>
                <a:path h="191468" w="605720">
                  <a:moveTo>
                    <a:pt x="0" y="0"/>
                  </a:moveTo>
                  <a:lnTo>
                    <a:pt x="605720" y="0"/>
                  </a:lnTo>
                  <a:lnTo>
                    <a:pt x="605720" y="191468"/>
                  </a:lnTo>
                  <a:lnTo>
                    <a:pt x="0" y="191468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05720" cy="181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899520" y="2124839"/>
            <a:ext cx="728006" cy="7280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59432" y="8429079"/>
            <a:ext cx="366265" cy="36626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8064" y="4111042"/>
            <a:ext cx="512826" cy="51282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3961" y="3804907"/>
            <a:ext cx="303960" cy="30396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456" y="548538"/>
            <a:ext cx="9285867" cy="884123"/>
            <a:chOff x="0" y="0"/>
            <a:chExt cx="2236299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299" cy="212922"/>
            </a:xfrm>
            <a:custGeom>
              <a:avLst/>
              <a:gdLst/>
              <a:ahLst/>
              <a:cxnLst/>
              <a:rect r="r" b="b" t="t" l="l"/>
              <a:pathLst>
                <a:path h="212922" w="2236299">
                  <a:moveTo>
                    <a:pt x="0" y="0"/>
                  </a:moveTo>
                  <a:lnTo>
                    <a:pt x="2236299" y="0"/>
                  </a:lnTo>
                  <a:lnTo>
                    <a:pt x="2236299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36299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5428" y="454821"/>
            <a:ext cx="8937923" cy="250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6519" i="true" spc="-130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Modeling Setup &amp; Cross-Validation</a:t>
            </a:r>
          </a:p>
          <a:p>
            <a:pPr algn="l">
              <a:lnSpc>
                <a:spcPts val="717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07156" y="2196363"/>
            <a:ext cx="9695077" cy="669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built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game-level features from the NFL dataset, including indicators like recent win rates and rest days.</a:t>
            </a:r>
          </a:p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After cleaning and splitting the data, we tested multiple models—</a:t>
            </a:r>
            <a:r>
              <a:rPr lang="en-US" sz="3583" i="true" spc="-236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Logistic Regression, Random Forest, Gradient Boosting, SVC, KNN, and XGBoost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—using pipelines with and without scaling. </a:t>
            </a:r>
          </a:p>
          <a:p>
            <a:pPr algn="l">
              <a:lnSpc>
                <a:spcPts val="3870"/>
              </a:lnSpc>
            </a:pPr>
          </a:p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evaluated each with </a:t>
            </a:r>
            <a:r>
              <a:rPr lang="en-US" sz="3583" spc="-2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10-fold cross-validation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583" spc="-2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accuracy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583" spc="-2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confusion matrix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and </a:t>
            </a:r>
            <a:r>
              <a:rPr lang="en-US" sz="3583" spc="-2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ROC-AUC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metrics, then visualized the top model’s performance and summarized results in a ranked table.</a:t>
            </a:r>
          </a:p>
          <a:p>
            <a:pPr algn="l">
              <a:lnSpc>
                <a:spcPts val="3438"/>
              </a:lnSpc>
            </a:pPr>
          </a:p>
          <a:p>
            <a:pPr algn="l">
              <a:lnSpc>
                <a:spcPts val="3147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16533" y="2236299"/>
            <a:ext cx="7392006" cy="5283619"/>
          </a:xfrm>
          <a:custGeom>
            <a:avLst/>
            <a:gdLst/>
            <a:ahLst/>
            <a:cxnLst/>
            <a:rect r="r" b="b" t="t" l="l"/>
            <a:pathLst>
              <a:path h="5283619" w="7392006">
                <a:moveTo>
                  <a:pt x="0" y="0"/>
                </a:moveTo>
                <a:lnTo>
                  <a:pt x="7392006" y="0"/>
                </a:lnTo>
                <a:lnTo>
                  <a:pt x="7392006" y="5283619"/>
                </a:lnTo>
                <a:lnTo>
                  <a:pt x="0" y="528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94" t="-30" r="0" b="-38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3262" y="368670"/>
            <a:ext cx="9285867" cy="884123"/>
            <a:chOff x="0" y="0"/>
            <a:chExt cx="2236299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299" cy="212922"/>
            </a:xfrm>
            <a:custGeom>
              <a:avLst/>
              <a:gdLst/>
              <a:ahLst/>
              <a:cxnLst/>
              <a:rect r="r" b="b" t="t" l="l"/>
              <a:pathLst>
                <a:path h="212922" w="2236299">
                  <a:moveTo>
                    <a:pt x="0" y="0"/>
                  </a:moveTo>
                  <a:lnTo>
                    <a:pt x="2236299" y="0"/>
                  </a:lnTo>
                  <a:lnTo>
                    <a:pt x="2236299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36299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156" y="279600"/>
            <a:ext cx="10413728" cy="237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7"/>
              </a:lnSpc>
            </a:pPr>
            <a:r>
              <a:rPr lang="en-US" sz="6180" i="true" spc="-123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EXPLORATORY DATA ANALYSIS (EDA)</a:t>
            </a:r>
          </a:p>
          <a:p>
            <a:pPr algn="l">
              <a:lnSpc>
                <a:spcPts val="5747"/>
              </a:lnSpc>
            </a:pPr>
          </a:p>
          <a:p>
            <a:pPr algn="l">
              <a:lnSpc>
                <a:spcPts val="680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771511" y="7735620"/>
            <a:ext cx="6824241" cy="55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"/>
              </a:lnSpc>
            </a:pPr>
          </a:p>
          <a:p>
            <a:pPr algn="ctr">
              <a:lnSpc>
                <a:spcPts val="2197"/>
              </a:lnSpc>
            </a:pPr>
            <a:r>
              <a:rPr lang="en-US" b="true" sz="1997" spc="-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</a:t>
            </a:r>
            <a:r>
              <a:rPr lang="en-US" b="true" sz="1997" spc="-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ort decision-making for stakeholders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68428" y="7675872"/>
            <a:ext cx="1497026" cy="452083"/>
            <a:chOff x="0" y="0"/>
            <a:chExt cx="366504" cy="110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504" cy="110680"/>
            </a:xfrm>
            <a:custGeom>
              <a:avLst/>
              <a:gdLst/>
              <a:ahLst/>
              <a:cxnLst/>
              <a:rect r="r" b="b" t="t" l="l"/>
              <a:pathLst>
                <a:path h="110680" w="366504">
                  <a:moveTo>
                    <a:pt x="0" y="0"/>
                  </a:moveTo>
                  <a:lnTo>
                    <a:pt x="366504" y="0"/>
                  </a:lnTo>
                  <a:lnTo>
                    <a:pt x="366504" y="110680"/>
                  </a:lnTo>
                  <a:lnTo>
                    <a:pt x="0" y="110680"/>
                  </a:lnTo>
                  <a:close/>
                </a:path>
              </a:pathLst>
            </a:custGeom>
            <a:solidFill>
              <a:srgbClr val="704F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366504" cy="10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826814" y="1668359"/>
            <a:ext cx="5893821" cy="4884605"/>
          </a:xfrm>
          <a:custGeom>
            <a:avLst/>
            <a:gdLst/>
            <a:ahLst/>
            <a:cxnLst/>
            <a:rect r="r" b="b" t="t" l="l"/>
            <a:pathLst>
              <a:path h="4884605" w="5893821">
                <a:moveTo>
                  <a:pt x="0" y="0"/>
                </a:moveTo>
                <a:lnTo>
                  <a:pt x="5893821" y="0"/>
                </a:lnTo>
                <a:lnTo>
                  <a:pt x="5893821" y="4884606"/>
                </a:lnTo>
                <a:lnTo>
                  <a:pt x="0" y="4884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6941" y="1804708"/>
            <a:ext cx="6537470" cy="4625929"/>
          </a:xfrm>
          <a:custGeom>
            <a:avLst/>
            <a:gdLst/>
            <a:ahLst/>
            <a:cxnLst/>
            <a:rect r="r" b="b" t="t" l="l"/>
            <a:pathLst>
              <a:path h="4625929" w="6537470">
                <a:moveTo>
                  <a:pt x="0" y="0"/>
                </a:moveTo>
                <a:lnTo>
                  <a:pt x="6537470" y="0"/>
                </a:lnTo>
                <a:lnTo>
                  <a:pt x="6537470" y="4625929"/>
                </a:lnTo>
                <a:lnTo>
                  <a:pt x="0" y="4625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97079" y="6617327"/>
            <a:ext cx="6317111" cy="66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759"/>
              </a:lnSpc>
              <a:buFont typeface="Arial"/>
              <a:buChar char="•"/>
            </a:pPr>
            <a:r>
              <a:rPr lang="en-US" b="true" sz="1599" i="true" spc="-47" strike="noStrike" u="none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Highlights how rest-day advantage is distributed.</a:t>
            </a:r>
          </a:p>
          <a:p>
            <a:pPr algn="l" marL="345439" indent="-172720" lvl="1">
              <a:lnSpc>
                <a:spcPts val="1759"/>
              </a:lnSpc>
              <a:buFont typeface="Arial"/>
              <a:buChar char="•"/>
            </a:pPr>
            <a:r>
              <a:rPr lang="en-US" b="true" sz="1599" i="true" spc="-47" strike="noStrike" u="none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Interpretation: Most values within roughly ±7 days; extreme values indicate scheduling quirks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074" y="6617327"/>
            <a:ext cx="6506337" cy="66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759"/>
              </a:lnSpc>
              <a:buFont typeface="Arial"/>
              <a:buChar char="•"/>
            </a:pPr>
            <a:r>
              <a:rPr lang="en-US" b="true" sz="1599" spc="-4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Shows distribution of recent point differential edges</a:t>
            </a:r>
          </a:p>
          <a:p>
            <a:pPr algn="l" marL="345439" indent="-172720" lvl="1">
              <a:lnSpc>
                <a:spcPts val="1759"/>
              </a:lnSpc>
              <a:buFont typeface="Arial"/>
              <a:buChar char="•"/>
            </a:pPr>
            <a:r>
              <a:rPr lang="en-US" b="true" sz="1599" spc="-4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Interpretation: Most games cluster near neutral point diferential; right tail shows strong home momentum in some games.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367373"/>
            <a:ext cx="15676959" cy="53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353" indent="-207177" lvl="1">
              <a:lnSpc>
                <a:spcPts val="2111"/>
              </a:lnSpc>
              <a:buFont typeface="Arial"/>
              <a:buChar char="•"/>
            </a:pPr>
            <a:r>
              <a:rPr lang="en-US" b="true" sz="1919" spc="-5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EDA confirms that most matchups are relatively balanced, with a few games where the home team has a large recent-form advantage.</a:t>
            </a:r>
          </a:p>
          <a:p>
            <a:pPr algn="l" marL="414353" indent="-207177" lvl="1">
              <a:lnSpc>
                <a:spcPts val="2111"/>
              </a:lnSpc>
              <a:buFont typeface="Arial"/>
              <a:buChar char="•"/>
            </a:pPr>
            <a:r>
              <a:rPr lang="en-US" b="true" sz="1919" spc="-5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Rest-days differences are usually small but can occasionally create large rest advantages or disadvantages.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849188" y="7769945"/>
            <a:ext cx="6309220" cy="28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"/>
              </a:lnSpc>
            </a:pPr>
            <a:r>
              <a:rPr lang="en-US" b="true" sz="1997" spc="-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Notes: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456" y="548538"/>
            <a:ext cx="13057559" cy="884123"/>
            <a:chOff x="0" y="0"/>
            <a:chExt cx="3144628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44628" cy="212922"/>
            </a:xfrm>
            <a:custGeom>
              <a:avLst/>
              <a:gdLst/>
              <a:ahLst/>
              <a:cxnLst/>
              <a:rect r="r" b="b" t="t" l="l"/>
              <a:pathLst>
                <a:path h="212922" w="3144628">
                  <a:moveTo>
                    <a:pt x="0" y="0"/>
                  </a:moveTo>
                  <a:lnTo>
                    <a:pt x="3144628" y="0"/>
                  </a:lnTo>
                  <a:lnTo>
                    <a:pt x="3144628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3144628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41424" y="326377"/>
            <a:ext cx="14250490" cy="157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6519" i="true" spc="-130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Correlation &amp; Recent Form Patterns</a:t>
            </a:r>
          </a:p>
          <a:p>
            <a:pPr algn="l">
              <a:lnSpc>
                <a:spcPts val="606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21456" y="1105299"/>
            <a:ext cx="11055932" cy="91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</a:p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Corr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elation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Heatmap among: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recent_win_rate_diff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recent_point_diff_diff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recent_points_for_diff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recent_points_against_diff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recent_wins_diff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rest_days_diff</a:t>
            </a:r>
          </a:p>
          <a:p>
            <a:pPr algn="l">
              <a:lnSpc>
                <a:spcPts val="3870"/>
              </a:lnSpc>
            </a:pPr>
            <a:r>
              <a:rPr lang="en-US" sz="3583" spc="-2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Observations: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Win-rate and point-differential edges are positively correla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ed.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t-day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d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iffe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nce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 on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ly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kly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rrelated with performance features.</a:t>
            </a:r>
          </a:p>
          <a:p>
            <a:pPr algn="l">
              <a:lnSpc>
                <a:spcPts val="3870"/>
              </a:lnSpc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Scatter Plot: Home vs. away recent win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rat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ts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ear d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 =&gt;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ma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ny games have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similar recent form.</a:t>
            </a:r>
          </a:p>
          <a:p>
            <a:pPr algn="l" marL="773757" indent="-386878" lvl="1">
              <a:lnSpc>
                <a:spcPts val="3870"/>
              </a:lnSpc>
              <a:buFont typeface="Arial"/>
              <a:buChar char="•"/>
            </a:pPr>
            <a:r>
              <a:rPr lang="en-US" sz="3583" spc="-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Home wins skew above the diagonal =&gt; home winners tend to have slightly stronger recent win rates than their opponents.</a:t>
            </a:r>
          </a:p>
          <a:p>
            <a:pPr algn="l">
              <a:lnSpc>
                <a:spcPts val="3147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745979" y="1852846"/>
            <a:ext cx="7153105" cy="5268099"/>
          </a:xfrm>
          <a:custGeom>
            <a:avLst/>
            <a:gdLst/>
            <a:ahLst/>
            <a:cxnLst/>
            <a:rect r="r" b="b" t="t" l="l"/>
            <a:pathLst>
              <a:path h="5268099" w="7153105">
                <a:moveTo>
                  <a:pt x="0" y="0"/>
                </a:moveTo>
                <a:lnTo>
                  <a:pt x="7153105" y="0"/>
                </a:lnTo>
                <a:lnTo>
                  <a:pt x="7153105" y="5268099"/>
                </a:lnTo>
                <a:lnTo>
                  <a:pt x="0" y="5268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2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3978" y="516670"/>
            <a:ext cx="7045618" cy="884123"/>
            <a:chOff x="0" y="0"/>
            <a:chExt cx="1696783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6783" cy="212922"/>
            </a:xfrm>
            <a:custGeom>
              <a:avLst/>
              <a:gdLst/>
              <a:ahLst/>
              <a:cxnLst/>
              <a:rect r="r" b="b" t="t" l="l"/>
              <a:pathLst>
                <a:path h="212922" w="1696783">
                  <a:moveTo>
                    <a:pt x="0" y="0"/>
                  </a:moveTo>
                  <a:lnTo>
                    <a:pt x="1696783" y="0"/>
                  </a:lnTo>
                  <a:lnTo>
                    <a:pt x="1696783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696783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28110" y="1400794"/>
            <a:ext cx="9983123" cy="7530594"/>
          </a:xfrm>
          <a:custGeom>
            <a:avLst/>
            <a:gdLst/>
            <a:ahLst/>
            <a:cxnLst/>
            <a:rect r="r" b="b" t="t" l="l"/>
            <a:pathLst>
              <a:path h="7530594" w="9983123">
                <a:moveTo>
                  <a:pt x="0" y="0"/>
                </a:moveTo>
                <a:lnTo>
                  <a:pt x="9983123" y="0"/>
                </a:lnTo>
                <a:lnTo>
                  <a:pt x="9983123" y="7530594"/>
                </a:lnTo>
                <a:lnTo>
                  <a:pt x="0" y="7530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3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5428" y="454821"/>
            <a:ext cx="7007586" cy="173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6519" i="true" spc="-130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Model Performance </a:t>
            </a:r>
          </a:p>
          <a:p>
            <a:pPr algn="l">
              <a:lnSpc>
                <a:spcPts val="717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1754621"/>
            <a:ext cx="8400228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 spc="-71">
                <a:solidFill>
                  <a:srgbClr val="4230C1"/>
                </a:solidFill>
                <a:latin typeface="Open Sauce"/>
                <a:ea typeface="Open Sauce"/>
                <a:cs typeface="Open Sauce"/>
                <a:sym typeface="Open Sauce"/>
              </a:rPr>
              <a:t>Each curve represents a model and specific scaling technique’s (StandardScaler, MinMax, or None) ability to predict a home team’s game outcome (W/L)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3120004"/>
            <a:ext cx="8028110" cy="345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2199" spc="-65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Highest-Performing Models</a:t>
            </a:r>
          </a:p>
          <a:p>
            <a:pPr algn="ctr">
              <a:lnSpc>
                <a:spcPts val="2419"/>
              </a:lnSpc>
            </a:pPr>
          </a:p>
          <a:p>
            <a:pPr algn="ctr">
              <a:lnSpc>
                <a:spcPts val="1979"/>
              </a:lnSpc>
            </a:pPr>
            <a:r>
              <a:rPr lang="en-US" b="true" sz="1799" i="true" spc="-53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Logistic Regression</a:t>
            </a:r>
            <a:r>
              <a:rPr lang="en-US" sz="1799" i="true" spc="-53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- AUC 0.637 (StandardScaler)</a:t>
            </a:r>
          </a:p>
          <a:p>
            <a:pPr algn="ctr">
              <a:lnSpc>
                <a:spcPts val="1979"/>
              </a:lnSpc>
            </a:pPr>
          </a:p>
          <a:p>
            <a:pPr algn="ctr">
              <a:lnSpc>
                <a:spcPts val="1979"/>
              </a:lnSpc>
            </a:pPr>
            <a:r>
              <a:rPr lang="en-US" b="true" sz="1799" i="true" spc="-53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SVC</a:t>
            </a:r>
            <a:r>
              <a:rPr lang="en-US" sz="1799" i="true" spc="-53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- AUC 0.629 (StandardScaler)</a:t>
            </a:r>
          </a:p>
          <a:p>
            <a:pPr algn="ctr">
              <a:lnSpc>
                <a:spcPts val="1979"/>
              </a:lnSpc>
            </a:pPr>
          </a:p>
          <a:p>
            <a:pPr algn="ctr">
              <a:lnSpc>
                <a:spcPts val="1979"/>
              </a:lnSpc>
            </a:pPr>
            <a:r>
              <a:rPr lang="en-US" b="true" sz="1799" i="true" spc="-53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Gradient Boosting</a:t>
            </a:r>
            <a:r>
              <a:rPr lang="en-US" sz="1799" i="true" spc="-53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- AUC = 0.610</a:t>
            </a:r>
          </a:p>
          <a:p>
            <a:pPr algn="ctr">
              <a:lnSpc>
                <a:spcPts val="1979"/>
              </a:lnSpc>
            </a:pPr>
          </a:p>
          <a:p>
            <a:pPr algn="ctr">
              <a:lnSpc>
                <a:spcPts val="2419"/>
              </a:lnSpc>
            </a:pPr>
            <a:r>
              <a:rPr lang="en-US" b="true" sz="2199" spc="-65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Lowest-Performing Models</a:t>
            </a:r>
          </a:p>
          <a:p>
            <a:pPr algn="ctr">
              <a:lnSpc>
                <a:spcPts val="2419"/>
              </a:lnSpc>
            </a:pPr>
          </a:p>
          <a:p>
            <a:pPr algn="ctr">
              <a:lnSpc>
                <a:spcPts val="1979"/>
              </a:lnSpc>
            </a:pPr>
            <a:r>
              <a:rPr lang="en-US" b="true" sz="1799" i="true" spc="-53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Decision Tree</a:t>
            </a:r>
            <a:r>
              <a:rPr lang="en-US" sz="1799" i="true" spc="-53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- AUC = 0.484 (MinMaxScaler)</a:t>
            </a:r>
          </a:p>
          <a:p>
            <a:pPr algn="ctr">
              <a:lnSpc>
                <a:spcPts val="1979"/>
              </a:lnSpc>
            </a:pPr>
          </a:p>
          <a:p>
            <a:pPr algn="ctr">
              <a:lnSpc>
                <a:spcPts val="1979"/>
              </a:lnSpc>
            </a:pPr>
            <a:r>
              <a:rPr lang="en-US" b="true" sz="1799" i="true" spc="-53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XG Boost </a:t>
            </a:r>
            <a:r>
              <a:rPr lang="en-US" sz="1799" i="true" spc="-53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- AUC = 0.587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3978" y="8032554"/>
            <a:ext cx="7159037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2639"/>
              </a:lnSpc>
              <a:buFont typeface="Arial"/>
              <a:buChar char="•"/>
            </a:pPr>
            <a:r>
              <a:rPr lang="en-US" sz="2399" spc="-71">
                <a:solidFill>
                  <a:srgbClr val="704FE8"/>
                </a:solidFill>
                <a:latin typeface="Open Sauce"/>
                <a:ea typeface="Open Sauce"/>
                <a:cs typeface="Open Sauce"/>
                <a:sym typeface="Open Sauce"/>
              </a:rPr>
              <a:t>AUC values in the 0.6 range represent moderate strength in predictive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3978" y="7166665"/>
            <a:ext cx="7159037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2639"/>
              </a:lnSpc>
              <a:buFont typeface="Arial"/>
              <a:buChar char="•"/>
            </a:pPr>
            <a:r>
              <a:rPr lang="en-US" sz="2399" spc="-71">
                <a:solidFill>
                  <a:srgbClr val="704FE8"/>
                </a:solidFill>
                <a:latin typeface="Open Sauce"/>
                <a:ea typeface="Open Sauce"/>
                <a:cs typeface="Open Sauce"/>
                <a:sym typeface="Open Sauce"/>
              </a:rPr>
              <a:t>Curves that are closer to the top-left region represent stronger-performing models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46211" y="8940913"/>
            <a:ext cx="6926610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"/>
              </a:lnSpc>
              <a:spcBef>
                <a:spcPct val="0"/>
              </a:spcBef>
            </a:pPr>
            <a:r>
              <a:rPr lang="en-US" sz="1599" i="true" spc="-47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The dashed diag</a:t>
            </a:r>
            <a:r>
              <a:rPr lang="en-US" sz="1599" i="true" spc="-47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onal line </a:t>
            </a:r>
            <a:r>
              <a:rPr lang="en-US" b="true" sz="1599" i="true" spc="-47">
                <a:solidFill>
                  <a:srgbClr val="00000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Chance</a:t>
            </a:r>
            <a:r>
              <a:rPr lang="en-US" sz="1599" i="true" spc="-47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represents random guessing (AUC = 0.5).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645980"/>
            <a:ext cx="18940634" cy="2698420"/>
            <a:chOff x="0" y="0"/>
            <a:chExt cx="4988480" cy="7106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10695"/>
            </a:xfrm>
            <a:custGeom>
              <a:avLst/>
              <a:gdLst/>
              <a:ahLst/>
              <a:cxnLst/>
              <a:rect r="r" b="b" t="t" l="l"/>
              <a:pathLst>
                <a:path h="71069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10695"/>
                  </a:lnTo>
                  <a:lnTo>
                    <a:pt x="0" y="71069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748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4497" y="760509"/>
            <a:ext cx="12699006" cy="884123"/>
            <a:chOff x="0" y="0"/>
            <a:chExt cx="3058279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58279" cy="212922"/>
            </a:xfrm>
            <a:custGeom>
              <a:avLst/>
              <a:gdLst/>
              <a:ahLst/>
              <a:cxnLst/>
              <a:rect r="r" b="b" t="t" l="l"/>
              <a:pathLst>
                <a:path h="212922" w="3058279">
                  <a:moveTo>
                    <a:pt x="0" y="0"/>
                  </a:moveTo>
                  <a:lnTo>
                    <a:pt x="3058279" y="0"/>
                  </a:lnTo>
                  <a:lnTo>
                    <a:pt x="3058279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3058279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8667" y="1562851"/>
            <a:ext cx="6965044" cy="7695449"/>
          </a:xfrm>
          <a:custGeom>
            <a:avLst/>
            <a:gdLst/>
            <a:ahLst/>
            <a:cxnLst/>
            <a:rect r="r" b="b" t="t" l="l"/>
            <a:pathLst>
              <a:path h="7695449" w="6965044">
                <a:moveTo>
                  <a:pt x="0" y="0"/>
                </a:moveTo>
                <a:lnTo>
                  <a:pt x="6965045" y="0"/>
                </a:lnTo>
                <a:lnTo>
                  <a:pt x="6965045" y="7695449"/>
                </a:lnTo>
                <a:lnTo>
                  <a:pt x="0" y="7695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0" t="0" r="-1040" b="-97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22909" y="612792"/>
            <a:ext cx="12375532" cy="18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7719" i="true" spc="-154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Implications &amp; Contributions</a:t>
            </a:r>
          </a:p>
          <a:p>
            <a:pPr algn="ctr">
              <a:lnSpc>
                <a:spcPts val="717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075162" y="2376731"/>
            <a:ext cx="9435442" cy="633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3"/>
              </a:lnSpc>
            </a:pPr>
            <a:r>
              <a:rPr lang="en-US" b="true" sz="2603" spc="-78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Implications</a:t>
            </a:r>
          </a:p>
          <a:p>
            <a:pPr algn="ctr">
              <a:lnSpc>
                <a:spcPts val="2863"/>
              </a:lnSpc>
            </a:pPr>
          </a:p>
          <a:p>
            <a:pPr algn="ctr" marL="562016" indent="-281008" lvl="1">
              <a:lnSpc>
                <a:spcPts val="2863"/>
              </a:lnSpc>
              <a:spcBef>
                <a:spcPct val="0"/>
              </a:spcBef>
              <a:buFont typeface="Arial"/>
              <a:buChar char="•"/>
            </a:pP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engineered recent-perf</a:t>
            </a: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ormance features meaningfully influence home win probability.</a:t>
            </a:r>
          </a:p>
          <a:p>
            <a:pPr algn="ctr" marL="562016" indent="-281008" lvl="1">
              <a:lnSpc>
                <a:spcPts val="2863"/>
              </a:lnSpc>
              <a:spcBef>
                <a:spcPct val="0"/>
              </a:spcBef>
              <a:buFont typeface="Arial"/>
              <a:buChar char="•"/>
            </a:pP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SHAP analysis reveals that offensive momentum and scoring trends drive model decisions.</a:t>
            </a:r>
          </a:p>
          <a:p>
            <a:pPr algn="ctr" marL="562016" indent="-281008" lvl="1">
              <a:lnSpc>
                <a:spcPts val="2863"/>
              </a:lnSpc>
              <a:spcBef>
                <a:spcPct val="0"/>
              </a:spcBef>
              <a:buFont typeface="Arial"/>
              <a:buChar char="•"/>
            </a:pP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Away team’s recent win rate and home team’s scoring form are strong predictors of game outcomes.</a:t>
            </a:r>
          </a:p>
          <a:p>
            <a:pPr algn="ctr">
              <a:lnSpc>
                <a:spcPts val="2863"/>
              </a:lnSpc>
              <a:spcBef>
                <a:spcPct val="0"/>
              </a:spcBef>
            </a:pPr>
          </a:p>
          <a:p>
            <a:pPr algn="ctr">
              <a:lnSpc>
                <a:spcPts val="2863"/>
              </a:lnSpc>
              <a:spcBef>
                <a:spcPct val="0"/>
              </a:spcBef>
            </a:pPr>
          </a:p>
          <a:p>
            <a:pPr algn="ctr">
              <a:lnSpc>
                <a:spcPts val="2863"/>
              </a:lnSpc>
              <a:spcBef>
                <a:spcPct val="0"/>
              </a:spcBef>
            </a:pPr>
            <a:r>
              <a:rPr lang="en-US" b="true" sz="2603" spc="-78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Contributions</a:t>
            </a:r>
          </a:p>
          <a:p>
            <a:pPr algn="ctr">
              <a:lnSpc>
                <a:spcPts val="2863"/>
              </a:lnSpc>
              <a:spcBef>
                <a:spcPct val="0"/>
              </a:spcBef>
            </a:pPr>
          </a:p>
          <a:p>
            <a:pPr algn="ctr" marL="562016" indent="-281008" lvl="1">
              <a:lnSpc>
                <a:spcPts val="2863"/>
              </a:lnSpc>
              <a:spcBef>
                <a:spcPct val="0"/>
              </a:spcBef>
              <a:buFont typeface="Arial"/>
              <a:buChar char="•"/>
            </a:pP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Provides a fully pre-game, leakage-free modeling framework for NFL outcome prediction.</a:t>
            </a:r>
          </a:p>
          <a:p>
            <a:pPr algn="ctr" marL="562016" indent="-281008" lvl="1">
              <a:lnSpc>
                <a:spcPts val="2863"/>
              </a:lnSpc>
              <a:spcBef>
                <a:spcPct val="0"/>
              </a:spcBef>
              <a:buFont typeface="Arial"/>
              <a:buChar char="•"/>
            </a:pPr>
            <a:r>
              <a:rPr lang="en-US" sz="2603" spc="-7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Demonstrates how matchup-based feature engineering improves predictive power.</a:t>
            </a:r>
          </a:p>
          <a:p>
            <a:pPr algn="ctr">
              <a:lnSpc>
                <a:spcPts val="2203"/>
              </a:lnSpc>
              <a:spcBef>
                <a:spcPct val="0"/>
              </a:spcBef>
            </a:pPr>
          </a:p>
          <a:p>
            <a:pPr algn="ctr">
              <a:lnSpc>
                <a:spcPts val="2203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78993" y="9357525"/>
            <a:ext cx="7284393" cy="19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400" spc="-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SHAP</a:t>
            </a:r>
            <a:r>
              <a:rPr lang="en-US" sz="1400" spc="-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plot showing the most influential recent-form features in predicting home-team wins.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4497" y="760509"/>
            <a:ext cx="12699006" cy="884123"/>
            <a:chOff x="0" y="0"/>
            <a:chExt cx="3058279" cy="212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58279" cy="212922"/>
            </a:xfrm>
            <a:custGeom>
              <a:avLst/>
              <a:gdLst/>
              <a:ahLst/>
              <a:cxnLst/>
              <a:rect r="r" b="b" t="t" l="l"/>
              <a:pathLst>
                <a:path h="212922" w="3058279">
                  <a:moveTo>
                    <a:pt x="0" y="0"/>
                  </a:moveTo>
                  <a:lnTo>
                    <a:pt x="3058279" y="0"/>
                  </a:lnTo>
                  <a:lnTo>
                    <a:pt x="3058279" y="212922"/>
                  </a:lnTo>
                  <a:lnTo>
                    <a:pt x="0" y="212922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3058279" cy="2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22909" y="612792"/>
            <a:ext cx="12375532" cy="9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7719" i="true" spc="-154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05714" y="2159039"/>
            <a:ext cx="13547223" cy="493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  <a:spcBef>
                <a:spcPct val="0"/>
              </a:spcBef>
            </a:pPr>
            <a:r>
              <a:rPr lang="en-US" sz="4179" spc="-12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</a:t>
            </a:r>
            <a:r>
              <a:rPr lang="en-US" sz="4179" spc="-12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successfully built a pre-game NFL win-prediction model using engineered recent-form features</a:t>
            </a:r>
          </a:p>
          <a:p>
            <a:pPr algn="ctr">
              <a:lnSpc>
                <a:spcPts val="2727"/>
              </a:lnSpc>
              <a:spcBef>
                <a:spcPct val="0"/>
              </a:spcBef>
            </a:pPr>
          </a:p>
          <a:p>
            <a:pPr algn="l" marL="535305" indent="-267652" lvl="1">
              <a:lnSpc>
                <a:spcPts val="2727"/>
              </a:lnSpc>
              <a:spcBef>
                <a:spcPct val="0"/>
              </a:spcBef>
              <a:buFont typeface="Arial"/>
              <a:buChar char="•"/>
            </a:pP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By </a:t>
            </a:r>
            <a:r>
              <a:rPr lang="en-US" b="true" sz="2479" spc="-74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avoiding data leakage</a:t>
            </a: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 using </a:t>
            </a:r>
            <a:r>
              <a:rPr lang="en-US" b="true" sz="2479" spc="-74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matchup-based metrics</a:t>
            </a:r>
            <a:r>
              <a:rPr lang="en-US" b="true" sz="2479" spc="-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</a:t>
            </a: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we captured real competitive differences between teams.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</a:p>
          <a:p>
            <a:pPr algn="l" marL="535305" indent="-267652" lvl="1">
              <a:lnSpc>
                <a:spcPts val="2727"/>
              </a:lnSpc>
              <a:spcBef>
                <a:spcPct val="0"/>
              </a:spcBef>
              <a:buFont typeface="Arial"/>
              <a:buChar char="•"/>
            </a:pP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Across all models tested,</a:t>
            </a:r>
            <a:r>
              <a:rPr lang="en-US" b="true" sz="2479" spc="-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79" spc="-74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Logistic Regression with StandardScaler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</a:p>
          <a:p>
            <a:pPr algn="l" marL="535305" indent="-267652" lvl="1">
              <a:lnSpc>
                <a:spcPts val="2727"/>
              </a:lnSpc>
              <a:buFont typeface="Arial"/>
              <a:buChar char="•"/>
            </a:pP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elivered the most stable and reliable performance (AUC ≈ 0.637), highlighting that the strongest signals come from simple, linear differences in recent team form</a:t>
            </a: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2727"/>
              </a:lnSpc>
            </a:pPr>
          </a:p>
          <a:p>
            <a:pPr algn="l" marL="535305" indent="-267652" lvl="1">
              <a:lnSpc>
                <a:spcPts val="2727"/>
              </a:lnSpc>
              <a:buFont typeface="Arial"/>
              <a:buChar char="•"/>
            </a:pPr>
            <a:r>
              <a:rPr lang="en-US" b="true" sz="2479" spc="-74">
                <a:solidFill>
                  <a:srgbClr val="4230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Recent scoring trends, win-rate differences, and point-differential edges</a:t>
            </a:r>
            <a:r>
              <a:rPr lang="en-US" sz="2479" spc="-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consistently emerged as the strongest predictors, while rest-day advantages played a smaller role.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73105" y="443592"/>
            <a:ext cx="4870895" cy="9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8"/>
              </a:lnSpc>
            </a:pPr>
            <a:r>
              <a:rPr lang="en-US" sz="7719" i="true" spc="-154">
                <a:solidFill>
                  <a:srgbClr val="4230C1"/>
                </a:solidFill>
                <a:latin typeface="Anton Italics"/>
                <a:ea typeface="Anton Italics"/>
                <a:cs typeface="Anton Italics"/>
                <a:sym typeface="Anton Italics"/>
              </a:rPr>
              <a:t>References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47933" y="1562775"/>
            <a:ext cx="11696344" cy="853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6"/>
              </a:lnSpc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[1] P. Robberechts, J. Van Haaren, and J. Davis, “Who will win it? </a:t>
            </a:r>
          </a:p>
          <a:p>
            <a:pPr algn="just">
              <a:lnSpc>
                <a:spcPts val="2496"/>
              </a:lnSpc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in-game win probability model for football,” in Proceedings </a:t>
            </a:r>
          </a:p>
          <a:p>
            <a:pPr algn="just">
              <a:lnSpc>
                <a:spcPts val="2496"/>
              </a:lnSpc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 the 7th Workshop on Machine Learning and Sports Analytics </a:t>
            </a:r>
          </a:p>
          <a:p>
            <a:pPr algn="just">
              <a:lnSpc>
                <a:spcPts val="2496"/>
              </a:lnSpc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(MLSA), 2019, accessed: 2025-11-17. [Online]. Available: https: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//dtai.cs.kuleuven.be/events/MLSA19/papers/r</a:t>
            </a: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obberechts MLSA19.pdf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[2] StatSurge Analytics, “Real-time nfl win prediction with machine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learning,” Online article, 2023, accessed: 2025-11-16. [Online]. Available: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https://statsurge.substack.com/p/real-time-nfl-win-prediction-with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[3] S. Juuri, “Predicting the results of nfl games using machine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learning models,” Master’s Thesis, Aalto University, 2023, accessed: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2025-11-16. [Online]. Available: https://aaltodoc.aalto.fi/bitstreams/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80b6e0d0-f5d1-4c19-abd3-667ee40d9c93/download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[4] AlphaPy Developers, “Sportflow: Machine learning for sports outcome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prediction,” Documentation, 2024, accessed: 2025-11-17. [Online].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Available: https://alphapy.readthedocs.io/en/latest/sportflow.html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[5] V. Satopaa, J. Baron, D. P. Foster, and B. Mellers, “Measuring consensus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 binary forecasts: Nfl game predictions,” Judgment and Decision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Making, vol. 5, no. 6, pp. 437–446, 2010, accessed: 2025-11-17. [Online]. 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  <a:r>
              <a:rPr lang="en-US" b="true" sz="2269" spc="-6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Available: https://www.sas.upenn.edu/∼foster/multipleforecasts.pdf</a:t>
            </a: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  <a:p>
            <a:pPr algn="just">
              <a:lnSpc>
                <a:spcPts val="2496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74395" y="5578908"/>
            <a:ext cx="4044239" cy="4014826"/>
          </a:xfrm>
          <a:custGeom>
            <a:avLst/>
            <a:gdLst/>
            <a:ahLst/>
            <a:cxnLst/>
            <a:rect r="r" b="b" t="t" l="l"/>
            <a:pathLst>
              <a:path h="4014826" w="4044239">
                <a:moveTo>
                  <a:pt x="0" y="0"/>
                </a:moveTo>
                <a:lnTo>
                  <a:pt x="4044239" y="0"/>
                </a:lnTo>
                <a:lnTo>
                  <a:pt x="4044239" y="4014826"/>
                </a:lnTo>
                <a:lnTo>
                  <a:pt x="0" y="4014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778463" y="405492"/>
            <a:ext cx="560256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1"/>
              </a:lnSpc>
            </a:pPr>
            <a:r>
              <a:rPr lang="en-US" sz="6399" i="true" spc="-127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#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675815" y="9698567"/>
            <a:ext cx="406274" cy="398780"/>
          </a:xfrm>
          <a:custGeom>
            <a:avLst/>
            <a:gdLst/>
            <a:ahLst/>
            <a:cxnLst/>
            <a:rect r="r" b="b" t="t" l="l"/>
            <a:pathLst>
              <a:path h="398780" w="406274">
                <a:moveTo>
                  <a:pt x="0" y="0"/>
                </a:moveTo>
                <a:lnTo>
                  <a:pt x="406274" y="0"/>
                </a:lnTo>
                <a:lnTo>
                  <a:pt x="406274" y="398780"/>
                </a:lnTo>
                <a:lnTo>
                  <a:pt x="0" y="398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08" y="828352"/>
            <a:ext cx="2892426" cy="2061511"/>
          </a:xfrm>
          <a:custGeom>
            <a:avLst/>
            <a:gdLst/>
            <a:ahLst/>
            <a:cxnLst/>
            <a:rect r="r" b="b" t="t" l="l"/>
            <a:pathLst>
              <a:path h="2061511" w="2892426">
                <a:moveTo>
                  <a:pt x="0" y="0"/>
                </a:moveTo>
                <a:lnTo>
                  <a:pt x="2892426" y="0"/>
                </a:lnTo>
                <a:lnTo>
                  <a:pt x="2892426" y="2061511"/>
                </a:lnTo>
                <a:lnTo>
                  <a:pt x="0" y="2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317" y="9429520"/>
            <a:ext cx="18940634" cy="2914880"/>
            <a:chOff x="0" y="0"/>
            <a:chExt cx="4988480" cy="76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8480" cy="767705"/>
            </a:xfrm>
            <a:custGeom>
              <a:avLst/>
              <a:gdLst/>
              <a:ahLst/>
              <a:cxnLst/>
              <a:rect r="r" b="b" t="t" l="l"/>
              <a:pathLst>
                <a:path h="767705" w="4988480">
                  <a:moveTo>
                    <a:pt x="0" y="0"/>
                  </a:moveTo>
                  <a:lnTo>
                    <a:pt x="4988480" y="0"/>
                  </a:lnTo>
                  <a:lnTo>
                    <a:pt x="4988480" y="767705"/>
                  </a:lnTo>
                  <a:lnTo>
                    <a:pt x="0" y="767705"/>
                  </a:ln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8480" cy="805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4497" y="1028700"/>
            <a:ext cx="12699006" cy="1231865"/>
            <a:chOff x="0" y="0"/>
            <a:chExt cx="16932008" cy="164248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63656"/>
              <a:ext cx="16932008" cy="1178831"/>
              <a:chOff x="0" y="0"/>
              <a:chExt cx="3058279" cy="21292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58279" cy="212922"/>
              </a:xfrm>
              <a:custGeom>
                <a:avLst/>
                <a:gdLst/>
                <a:ahLst/>
                <a:cxnLst/>
                <a:rect r="r" b="b" t="t" l="l"/>
                <a:pathLst>
                  <a:path h="212922" w="3058279">
                    <a:moveTo>
                      <a:pt x="0" y="0"/>
                    </a:moveTo>
                    <a:lnTo>
                      <a:pt x="3058279" y="0"/>
                    </a:lnTo>
                    <a:lnTo>
                      <a:pt x="3058279" y="212922"/>
                    </a:lnTo>
                    <a:lnTo>
                      <a:pt x="0" y="212922"/>
                    </a:lnTo>
                    <a:close/>
                  </a:path>
                </a:pathLst>
              </a:custGeom>
              <a:solidFill>
                <a:srgbClr val="F49F4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9525"/>
                <a:ext cx="3058279" cy="203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4549" y="200025"/>
              <a:ext cx="16500709" cy="135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78"/>
                </a:lnSpc>
              </a:pPr>
              <a:r>
                <a:rPr lang="en-US" sz="7719" spc="-154">
                  <a:solidFill>
                    <a:srgbClr val="4230C1"/>
                  </a:solidFill>
                  <a:latin typeface="Anton"/>
                  <a:ea typeface="Anton"/>
                  <a:cs typeface="Anton"/>
                  <a:sym typeface="Anton"/>
                </a:rPr>
                <a:t>THANK YOU!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12243" y="8021425"/>
            <a:ext cx="681388" cy="68138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65321" y="7844845"/>
            <a:ext cx="353159" cy="3531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9F4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566766" y="2520098"/>
            <a:ext cx="3191947" cy="6649890"/>
          </a:xfrm>
          <a:custGeom>
            <a:avLst/>
            <a:gdLst/>
            <a:ahLst/>
            <a:cxnLst/>
            <a:rect r="r" b="b" t="t" l="l"/>
            <a:pathLst>
              <a:path h="6649890" w="3191947">
                <a:moveTo>
                  <a:pt x="0" y="0"/>
                </a:moveTo>
                <a:lnTo>
                  <a:pt x="3191947" y="0"/>
                </a:lnTo>
                <a:lnTo>
                  <a:pt x="3191947" y="6649890"/>
                </a:lnTo>
                <a:lnTo>
                  <a:pt x="0" y="664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DAG27pbJX7M</dc:identifier>
  <dcterms:modified xsi:type="dcterms:W3CDTF">2011-08-01T06:04:30Z</dcterms:modified>
  <cp:revision>1</cp:revision>
  <dc:title>EM624 - Predicting NFL Game Outcomes</dc:title>
</cp:coreProperties>
</file>